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87579e96d649f1" /><Relationship Type="http://schemas.openxmlformats.org/officeDocument/2006/relationships/extended-properties" Target="/docProps/app.xml" Id="Rc6729c7ca5534016" /><Relationship Type="http://schemas.openxmlformats.org/officeDocument/2006/relationships/officeDocument" Target="/ppt/presentation.xml" Id="R3cf71f85b0844626" /></Relationships>
</file>

<file path=ppt/presentation.xml><?xml version="1.0" encoding="utf-8"?>
<p:presentation xmlns:p="http://schemas.openxmlformats.org/presentationml/2006/main">
  <p:sldMasterIdLst>
    <p:sldMasterId xmlns:r="http://schemas.openxmlformats.org/officeDocument/2006/relationships" id="2147483648" r:id="R1e961afaaaa84cd9"/>
  </p:sldMasterIdLst>
  <p:notesMasterIdLst>
    <p:notesMasterId xmlns:r="http://schemas.openxmlformats.org/officeDocument/2006/relationships" r:id="R6c0d5df49fa74251"/>
  </p:notesMasterIdLst>
  <p:sldIdLst>
    <p:sldId xmlns:r="http://schemas.openxmlformats.org/officeDocument/2006/relationships" id="256" r:id="Rebd16dd379ff4dce"/>
    <p:sldId xmlns:r="http://schemas.openxmlformats.org/officeDocument/2006/relationships" id="257" r:id="Rc4b943a0dc394349"/>
    <p:sldId xmlns:r="http://schemas.openxmlformats.org/officeDocument/2006/relationships" id="258" r:id="R69b87c8b6d6f41f1"/>
    <p:sldId xmlns:r="http://schemas.openxmlformats.org/officeDocument/2006/relationships" id="259" r:id="R76652b14b2ae4f63"/>
    <p:sldId xmlns:r="http://schemas.openxmlformats.org/officeDocument/2006/relationships" id="260" r:id="R84dabc6dc415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e48176e6104263" /><Relationship Type="http://schemas.openxmlformats.org/officeDocument/2006/relationships/slideMaster" Target="/ppt/slideMasters/slideMaster1.xml" Id="R1e961afaaaa84cd9" /><Relationship Type="http://schemas.openxmlformats.org/officeDocument/2006/relationships/notesMaster" Target="/ppt/notesMasters/notesMaster1.xml" Id="R6c0d5df49fa74251" /><Relationship Type="http://schemas.openxmlformats.org/officeDocument/2006/relationships/presProps" Target="/ppt/presProps.xml" Id="Rc70bd355412e4777" /><Relationship Type="http://schemas.openxmlformats.org/officeDocument/2006/relationships/tableStyles" Target="/ppt/tableStyles.xml" Id="R6ce06ae9568b499d" /><Relationship Type="http://schemas.openxmlformats.org/officeDocument/2006/relationships/slide" Target="/ppt/slides/slide1.xml" Id="Rebd16dd379ff4dce" /><Relationship Type="http://schemas.openxmlformats.org/officeDocument/2006/relationships/slide" Target="/ppt/slides/slide2.xml" Id="Rc4b943a0dc394349" /><Relationship Type="http://schemas.openxmlformats.org/officeDocument/2006/relationships/slide" Target="/ppt/slides/slide3.xml" Id="R69b87c8b6d6f41f1" /><Relationship Type="http://schemas.openxmlformats.org/officeDocument/2006/relationships/slide" Target="/ppt/slides/slide4.xml" Id="R76652b14b2ae4f63" /><Relationship Type="http://schemas.openxmlformats.org/officeDocument/2006/relationships/slide" Target="/ppt/slides/slide5.xml" Id="R84dabc6dc41547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bde9a06d0b4b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71e9ba8c1f423f" /><Relationship Type="http://schemas.openxmlformats.org/officeDocument/2006/relationships/notesMaster" Target="/ppt/notesMasters/notesMaster1.xml" Id="R7ee93702263247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52275a609e4199" /><Relationship Type="http://schemas.openxmlformats.org/officeDocument/2006/relationships/notesMaster" Target="/ppt/notesMasters/notesMaster1.xml" Id="R4b791c225a3747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73efd7113343f7" /><Relationship Type="http://schemas.openxmlformats.org/officeDocument/2006/relationships/notesMaster" Target="/ppt/notesMasters/notesMaster1.xml" Id="R357776a5990741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678c2fabf3487b" /><Relationship Type="http://schemas.openxmlformats.org/officeDocument/2006/relationships/notesMaster" Target="/ppt/notesMasters/notesMaster1.xml" Id="R78290ffdee8f4d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693033cca4601" /><Relationship Type="http://schemas.openxmlformats.org/officeDocument/2006/relationships/notesMaster" Target="/ppt/notesMasters/notesMaster1.xml" Id="Rf125a54859f143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e0505e1bfd44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f5ecdf421547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1a704dd26143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58a94c91254e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9913fad57a48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09788220c045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1941C-1AA1-4AEA-848D-70BC20BFD8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D6AF92-C59C-46A5-8264-0C07133A0F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D06D87-8809-49A2-A85E-6626A3FC9C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438726-6769-4C36-9677-E38F518F63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C8A254-A675-47C0-9226-4E32571BE2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6B4F61-4A78-4A27-AA8E-B07DACC19E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145983-2DD4-4194-81B9-FE4603DEE4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C5100B-D766-412F-9A7A-F3516C012B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FB2C67-0C2D-437B-8080-8117CF8FFB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4471BB-B479-40EE-AF91-867556E560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46a435bc194ac5" /><Relationship Type="http://schemas.openxmlformats.org/officeDocument/2006/relationships/slideLayout" Target="/ppt/slideLayouts/slideLayout1.xml" Id="Rcbb630f92e3e425d" /><Relationship Type="http://schemas.openxmlformats.org/officeDocument/2006/relationships/slideLayout" Target="/ppt/slideLayouts/slideLayout2.xml" Id="R78d3a502f7a148e8" /><Relationship Type="http://schemas.openxmlformats.org/officeDocument/2006/relationships/slideLayout" Target="/ppt/slideLayouts/slideLayout3.xml" Id="R6ef6260f5c6843d5" /><Relationship Type="http://schemas.openxmlformats.org/officeDocument/2006/relationships/slideLayout" Target="/ppt/slideLayouts/slideLayout4.xml" Id="R715ec88c0b904daf" /><Relationship Type="http://schemas.openxmlformats.org/officeDocument/2006/relationships/slideLayout" Target="/ppt/slideLayouts/slideLayout5.xml" Id="Rad747b781e994208" /><Relationship Type="http://schemas.openxmlformats.org/officeDocument/2006/relationships/slideLayout" Target="/ppt/slideLayouts/slideLayout6.xml" Id="Raef29a28ea7542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b630f92e3e425d"/>
    <p:sldLayoutId xmlns:r="http://schemas.openxmlformats.org/officeDocument/2006/relationships" id="2147483650" r:id="R78d3a502f7a148e8"/>
    <p:sldLayoutId xmlns:r="http://schemas.openxmlformats.org/officeDocument/2006/relationships" id="2147483651" r:id="R6ef6260f5c6843d5"/>
    <p:sldLayoutId xmlns:r="http://schemas.openxmlformats.org/officeDocument/2006/relationships" id="2147483652" r:id="R715ec88c0b904daf"/>
    <p:sldLayoutId xmlns:r="http://schemas.openxmlformats.org/officeDocument/2006/relationships" id="2147483653" r:id="Rad747b781e994208"/>
    <p:sldLayoutId xmlns:r="http://schemas.openxmlformats.org/officeDocument/2006/relationships" id="2147483654" r:id="Raef29a28ea7542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c15ebc041b471a" /><Relationship Type="http://schemas.openxmlformats.org/officeDocument/2006/relationships/notesSlide" Target="/ppt/notesSlides/notesSlide1.xml" Id="Rfd4d3e52924341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651e0ddcf448aa" /><Relationship Type="http://schemas.openxmlformats.org/officeDocument/2006/relationships/notesSlide" Target="/ppt/notesSlides/notesSlide2.xml" Id="R0ce3eba9263f47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46ec56d1ff4e2b" /><Relationship Type="http://schemas.openxmlformats.org/officeDocument/2006/relationships/notesSlide" Target="/ppt/notesSlides/notesSlide3.xml" Id="Rf5a50f18fb604c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c499f6da244801" /><Relationship Type="http://schemas.openxmlformats.org/officeDocument/2006/relationships/notesSlide" Target="/ppt/notesSlides/notesSlide4.xml" Id="Rb0662ab85b644b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21664d2bc041de" /><Relationship Type="http://schemas.openxmlformats.org/officeDocument/2006/relationships/notesSlide" Target="/ppt/notesSlides/notesSlide5.xml" Id="R76bc3fb7fa514823" /></Relationships>
</file>

<file path=ppt/slides/slide1.xml><?xml version="1.0" encoding="utf-8"?>
<p:sld xmlns:p="http://schemas.openxmlformats.org/presentationml/2006/main">
  <p:cSld>
    <p:bg>
      <p:bgPr>
        <a:solidFill xmlns:a="http://schemas.openxmlformats.org/drawingml/2006/main">
          <a:srgbClr val="111D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F57951B-4FB8-4539-B9B3-7257E9DB0B64}"/>
              </a:ext>
            </a:extLst>
          </p:cNvPr>
          <p:cNvSpPr>
            <a:spLocks xmlns:a="http://schemas.openxmlformats.org/drawingml/2006/main" noGrp="1"/>
          </p:cNvSpPr>
          <p:nvPr/>
        </p:nvSpPr>
        <p:spPr>
          <a:xfrm xmlns:a="http://schemas.openxmlformats.org/drawingml/2006/main">
            <a:off x="609600" y="581025"/>
            <a:ext cx="514350" cy="514350"/>
          </a:xfrm>
          <a:prstGeom xmlns:a="http://schemas.openxmlformats.org/drawingml/2006/main" prst="roundRect">
            <a:avLst>
              <a:gd name="adj" fmla="val 22222"/>
            </a:avLst>
          </a:prstGeom>
          <a:solidFill xmlns:a="http://schemas.openxmlformats.org/drawingml/2006/main">
            <a:srgbClr val="0D9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80F55C-6F93-4A2B-8C1C-5E1A7D30D16C}"/>
              </a:ext>
            </a:extLst>
          </p:cNvPr>
          <p:cNvSpPr>
            <a:spLocks xmlns:a="http://schemas.openxmlformats.org/drawingml/2006/main" noGrp="1"/>
          </p:cNvSpPr>
          <p:nvPr/>
        </p:nvSpPr>
        <p:spPr>
          <a:xfrm xmlns:a="http://schemas.openxmlformats.org/drawingml/2006/main">
            <a:off x="609600" y="590550"/>
            <a:ext cx="514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S</a:t>
            </a:r>
          </a:p>
        </p:txBody>
      </p:sp>
      <p:sp>
        <p:nvSpPr>
          <p:cNvPr id="3" name="">
            <a:extLst xmlns:a="http://schemas.openxmlformats.org/drawingml/2006/main">
              <a:ext uri="{FF2B5EF4-FFF2-40B4-BE49-F238E27FC236}">
                <a16:creationId xmlns:a16="http://schemas.microsoft.com/office/drawing/2014/main" id="{B584B8D6-EA32-423A-B8E0-B4AA64FCD592}"/>
              </a:ext>
            </a:extLst>
          </p:cNvPr>
          <p:cNvSpPr>
            <a:spLocks xmlns:a="http://schemas.openxmlformats.org/drawingml/2006/main" noGrp="1"/>
          </p:cNvSpPr>
          <p:nvPr/>
        </p:nvSpPr>
        <p:spPr>
          <a:xfrm xmlns:a="http://schemas.openxmlformats.org/drawingml/2006/main">
            <a:off x="609600" y="14859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7DD9C9"/>
                </a:solidFill>
              </a:defRPr>
            </a:defPPr>
            <a:lvl1pPr>
              <a:defRPr sz="975" b="1">
                <a:solidFill>
                  <a:srgbClr val="7DD9C9"/>
                </a:solidFill>
              </a:defRPr>
            </a:lvl1pPr>
            <a:lvl2pPr>
              <a:defRPr sz="975" b="1">
                <a:solidFill>
                  <a:srgbClr val="7DD9C9"/>
                </a:solidFill>
              </a:defRPr>
            </a:lvl2pPr>
            <a:lvl3pPr>
              <a:defRPr sz="975" b="1">
                <a:solidFill>
                  <a:srgbClr val="7DD9C9"/>
                </a:solidFill>
              </a:defRPr>
            </a:lvl3pPr>
            <a:lvl4pPr>
              <a:defRPr sz="975" b="1">
                <a:solidFill>
                  <a:srgbClr val="7DD9C9"/>
                </a:solidFill>
              </a:defRPr>
            </a:lvl4pPr>
            <a:lvl5pPr>
              <a:defRPr sz="975" b="1">
                <a:solidFill>
                  <a:srgbClr val="7DD9C9"/>
                </a:solidFill>
              </a:defRPr>
            </a:lvl5pPr>
            <a:lvl6pPr>
              <a:defRPr sz="975" b="1">
                <a:solidFill>
                  <a:srgbClr val="7DD9C9"/>
                </a:solidFill>
              </a:defRPr>
            </a:lvl6pPr>
            <a:lvl7pPr>
              <a:defRPr sz="975" b="1">
                <a:solidFill>
                  <a:srgbClr val="7DD9C9"/>
                </a:solidFill>
              </a:defRPr>
            </a:lvl7pPr>
            <a:lvl8pPr>
              <a:defRPr sz="975" b="1">
                <a:solidFill>
                  <a:srgbClr val="7DD9C9"/>
                </a:solidFill>
              </a:defRPr>
            </a:lvl8pPr>
            <a:lvl9pPr>
              <a:defRPr sz="975" b="1">
                <a:solidFill>
                  <a:srgbClr val="7DD9C9"/>
                </a:solidFill>
              </a:defRPr>
            </a:lvl9pPr>
          </a:lstStyle>
          <a:p xmlns:a="http://schemas.openxmlformats.org/drawingml/2006/main">
            <a:pPr>
              <a:defRPr sz="975" b="1">
                <a:solidFill>
                  <a:srgbClr val="7DD9C9"/>
                </a:solidFill>
              </a:defRPr>
            </a:pPr>
            <a:r>
              <a:rPr sz="975" b="1">
                <a:solidFill>
                  <a:srgbClr val="7DD9C9"/>
                </a:solidFill>
              </a:rPr>
              <a:t>REVENUE INTELLIGENCE INBOX  /  PRIVATE HIRING EXERCISE</a:t>
            </a:r>
          </a:p>
        </p:txBody>
      </p:sp>
      <p:sp>
        <p:nvSpPr>
          <p:cNvPr id="4" name="">
            <a:extLst xmlns:a="http://schemas.openxmlformats.org/drawingml/2006/main">
              <a:ext uri="{FF2B5EF4-FFF2-40B4-BE49-F238E27FC236}">
                <a16:creationId xmlns:a16="http://schemas.microsoft.com/office/drawing/2014/main" id="{BA05698E-CDE3-4DC4-A05F-194B9CED7983}"/>
              </a:ext>
            </a:extLst>
          </p:cNvPr>
          <p:cNvSpPr>
            <a:spLocks xmlns:a="http://schemas.openxmlformats.org/drawingml/2006/main" noGrp="1"/>
          </p:cNvSpPr>
          <p:nvPr/>
        </p:nvSpPr>
        <p:spPr>
          <a:xfrm xmlns:a="http://schemas.openxmlformats.org/drawingml/2006/main">
            <a:off x="609600" y="1971675"/>
            <a:ext cx="8191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FFFFFF"/>
                </a:solidFill>
              </a:defRPr>
            </a:defPPr>
            <a:lvl1pPr>
              <a:defRPr sz="3225" b="1">
                <a:solidFill>
                  <a:srgbClr val="FFFFFF"/>
                </a:solidFill>
              </a:defRPr>
            </a:lvl1pPr>
            <a:lvl2pPr>
              <a:defRPr sz="3225" b="1">
                <a:solidFill>
                  <a:srgbClr val="FFFFFF"/>
                </a:solidFill>
              </a:defRPr>
            </a:lvl2pPr>
            <a:lvl3pPr>
              <a:defRPr sz="3225" b="1">
                <a:solidFill>
                  <a:srgbClr val="FFFFFF"/>
                </a:solidFill>
              </a:defRPr>
            </a:lvl3pPr>
            <a:lvl4pPr>
              <a:defRPr sz="3225" b="1">
                <a:solidFill>
                  <a:srgbClr val="FFFFFF"/>
                </a:solidFill>
              </a:defRPr>
            </a:lvl4pPr>
            <a:lvl5pPr>
              <a:defRPr sz="3225" b="1">
                <a:solidFill>
                  <a:srgbClr val="FFFFFF"/>
                </a:solidFill>
              </a:defRPr>
            </a:lvl5pPr>
            <a:lvl6pPr>
              <a:defRPr sz="3225" b="1">
                <a:solidFill>
                  <a:srgbClr val="FFFFFF"/>
                </a:solidFill>
              </a:defRPr>
            </a:lvl6pPr>
            <a:lvl7pPr>
              <a:defRPr sz="3225" b="1">
                <a:solidFill>
                  <a:srgbClr val="FFFFFF"/>
                </a:solidFill>
              </a:defRPr>
            </a:lvl7pPr>
            <a:lvl8pPr>
              <a:defRPr sz="3225" b="1">
                <a:solidFill>
                  <a:srgbClr val="FFFFFF"/>
                </a:solidFill>
              </a:defRPr>
            </a:lvl8pPr>
            <a:lvl9pPr>
              <a:defRPr sz="3225" b="1">
                <a:solidFill>
                  <a:srgbClr val="FFFFFF"/>
                </a:solidFill>
              </a:defRPr>
            </a:lvl9pPr>
          </a:lstStyle>
          <a:p xmlns:a="http://schemas.openxmlformats.org/drawingml/2006/main">
            <a:pPr>
              <a:defRPr sz="3225" b="1">
                <a:solidFill>
                  <a:srgbClr val="FFFFFF"/>
                </a:solidFill>
              </a:defRPr>
            </a:pPr>
            <a:r>
              <a:rPr sz="3225" b="1">
                <a:solidFill>
                  <a:srgbClr val="FFFFFF"/>
                </a:solidFill>
              </a:rPr>
              <a:t>One selected day.</a:t>
            </a:r>
          </a:p>
          <a:p xmlns:a="http://schemas.openxmlformats.org/drawingml/2006/main">
            <a:pPr>
              <a:defRPr sz="3225" b="1">
                <a:solidFill>
                  <a:srgbClr val="FFFFFF"/>
                </a:solidFill>
              </a:defRPr>
            </a:pPr>
            <a:r>
              <a:rPr sz="3225" b="1">
                <a:solidFill>
                  <a:srgbClr val="FFFFFF"/>
                </a:solidFill>
              </a:rPr>
              <a:t>A queue of decisions.</a:t>
            </a:r>
          </a:p>
        </p:txBody>
      </p:sp>
      <p:sp>
        <p:nvSpPr>
          <p:cNvPr id="5" name="">
            <a:extLst xmlns:a="http://schemas.openxmlformats.org/drawingml/2006/main">
              <a:ext uri="{FF2B5EF4-FFF2-40B4-BE49-F238E27FC236}">
                <a16:creationId xmlns:a16="http://schemas.microsoft.com/office/drawing/2014/main" id="{8B11E695-6EF2-416B-951A-1C744E224620}"/>
              </a:ext>
            </a:extLst>
          </p:cNvPr>
          <p:cNvSpPr>
            <a:spLocks xmlns:a="http://schemas.openxmlformats.org/drawingml/2006/main" noGrp="1"/>
          </p:cNvSpPr>
          <p:nvPr/>
        </p:nvSpPr>
        <p:spPr>
          <a:xfrm xmlns:a="http://schemas.openxmlformats.org/drawingml/2006/main">
            <a:off x="609600" y="3781425"/>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B8C5D0"/>
                </a:solidFill>
              </a:defRPr>
            </a:defPPr>
            <a:lvl1pPr>
              <a:defRPr sz="1350" b="0">
                <a:solidFill>
                  <a:srgbClr val="B8C5D0"/>
                </a:solidFill>
              </a:defRPr>
            </a:lvl1pPr>
            <a:lvl2pPr>
              <a:defRPr sz="1350" b="0">
                <a:solidFill>
                  <a:srgbClr val="B8C5D0"/>
                </a:solidFill>
              </a:defRPr>
            </a:lvl2pPr>
            <a:lvl3pPr>
              <a:defRPr sz="1350" b="0">
                <a:solidFill>
                  <a:srgbClr val="B8C5D0"/>
                </a:solidFill>
              </a:defRPr>
            </a:lvl3pPr>
            <a:lvl4pPr>
              <a:defRPr sz="1350" b="0">
                <a:solidFill>
                  <a:srgbClr val="B8C5D0"/>
                </a:solidFill>
              </a:defRPr>
            </a:lvl4pPr>
            <a:lvl5pPr>
              <a:defRPr sz="1350" b="0">
                <a:solidFill>
                  <a:srgbClr val="B8C5D0"/>
                </a:solidFill>
              </a:defRPr>
            </a:lvl5pPr>
            <a:lvl6pPr>
              <a:defRPr sz="1350" b="0">
                <a:solidFill>
                  <a:srgbClr val="B8C5D0"/>
                </a:solidFill>
              </a:defRPr>
            </a:lvl6pPr>
            <a:lvl7pPr>
              <a:defRPr sz="1350" b="0">
                <a:solidFill>
                  <a:srgbClr val="B8C5D0"/>
                </a:solidFill>
              </a:defRPr>
            </a:lvl7pPr>
            <a:lvl8pPr>
              <a:defRPr sz="1350" b="0">
                <a:solidFill>
                  <a:srgbClr val="B8C5D0"/>
                </a:solidFill>
              </a:defRPr>
            </a:lvl8pPr>
            <a:lvl9pPr>
              <a:defRPr sz="1350" b="0">
                <a:solidFill>
                  <a:srgbClr val="B8C5D0"/>
                </a:solidFill>
              </a:defRPr>
            </a:lvl9pPr>
          </a:lstStyle>
          <a:p xmlns:a="http://schemas.openxmlformats.org/drawingml/2006/main">
            <a:pPr>
              <a:defRPr sz="1350" b="0">
                <a:solidFill>
                  <a:srgbClr val="B8C5D0"/>
                </a:solidFill>
              </a:defRPr>
            </a:pPr>
            <a:r>
              <a:rPr sz="1350" b="0">
                <a:solidFill>
                  <a:srgbClr val="B8C5D0"/>
                </a:solidFill>
              </a:rPr>
              <a:t>21 August 2026  ·  Asia/Kolkata</a:t>
            </a:r>
          </a:p>
          <a:p xmlns:a="http://schemas.openxmlformats.org/drawingml/2006/main">
            <a:pPr>
              <a:defRPr sz="1350" b="0">
                <a:solidFill>
                  <a:srgbClr val="B8C5D0"/>
                </a:solidFill>
              </a:defRPr>
            </a:pPr>
            <a:r>
              <a:rPr sz="1350" b="0">
                <a:solidFill>
                  <a:srgbClr val="B8C5D0"/>
                </a:solidFill>
              </a:rPr>
              <a:t>Evidence-led routing for calls and meetings</a:t>
            </a:r>
          </a:p>
        </p:txBody>
      </p:sp>
      <p:sp>
        <p:nvSpPr>
          <p:cNvPr id="6" name="">
            <a:extLst xmlns:a="http://schemas.openxmlformats.org/drawingml/2006/main">
              <a:ext uri="{FF2B5EF4-FFF2-40B4-BE49-F238E27FC236}">
                <a16:creationId xmlns:a16="http://schemas.microsoft.com/office/drawing/2014/main" id="{E3DB0DFE-FA43-462E-BA2F-A519F6F684C1}"/>
              </a:ext>
            </a:extLst>
          </p:cNvPr>
          <p:cNvSpPr>
            <a:spLocks xmlns:a="http://schemas.openxmlformats.org/drawingml/2006/main" noGrp="1"/>
          </p:cNvSpPr>
          <p:nvPr/>
        </p:nvSpPr>
        <p:spPr>
          <a:xfrm xmlns:a="http://schemas.openxmlformats.org/drawingml/2006/main">
            <a:off x="7239000" y="1476375"/>
            <a:ext cx="4171950" cy="3714750"/>
          </a:xfrm>
          <a:prstGeom xmlns:a="http://schemas.openxmlformats.org/drawingml/2006/main" prst="roundRect">
            <a:avLst>
              <a:gd name="adj" fmla="val 3077"/>
            </a:avLst>
          </a:prstGeom>
          <a:solidFill xmlns:a="http://schemas.openxmlformats.org/drawingml/2006/main">
            <a:srgbClr val="1B2C3B"/>
          </a:solidFill>
          <a:ln xmlns:a="http://schemas.openxmlformats.org/drawingml/2006/main" w="9525">
            <a:solidFill>
              <a:srgbClr val="344553"/>
            </a:solidFill>
            <a:prstDash val="solid"/>
          </a:ln>
        </p:spPr>
      </p:sp>
      <p:sp>
        <p:nvSpPr>
          <p:cNvPr id="7" name="">
            <a:extLst xmlns:a="http://schemas.openxmlformats.org/drawingml/2006/main">
              <a:ext uri="{FF2B5EF4-FFF2-40B4-BE49-F238E27FC236}">
                <a16:creationId xmlns:a16="http://schemas.microsoft.com/office/drawing/2014/main" id="{4D59FDDE-76B5-4FF9-A256-4A640223DACA}"/>
              </a:ext>
            </a:extLst>
          </p:cNvPr>
          <p:cNvSpPr>
            <a:spLocks xmlns:a="http://schemas.openxmlformats.org/drawingml/2006/main" noGrp="1"/>
          </p:cNvSpPr>
          <p:nvPr/>
        </p:nvSpPr>
        <p:spPr>
          <a:xfrm xmlns:a="http://schemas.openxmlformats.org/drawingml/2006/main">
            <a:off x="7620000" y="1762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91A3B2"/>
                </a:solidFill>
              </a:defRPr>
            </a:defPPr>
            <a:lvl1pPr>
              <a:defRPr sz="900" b="1">
                <a:solidFill>
                  <a:srgbClr val="91A3B2"/>
                </a:solidFill>
              </a:defRPr>
            </a:lvl1pPr>
            <a:lvl2pPr>
              <a:defRPr sz="900" b="1">
                <a:solidFill>
                  <a:srgbClr val="91A3B2"/>
                </a:solidFill>
              </a:defRPr>
            </a:lvl2pPr>
            <a:lvl3pPr>
              <a:defRPr sz="900" b="1">
                <a:solidFill>
                  <a:srgbClr val="91A3B2"/>
                </a:solidFill>
              </a:defRPr>
            </a:lvl3pPr>
            <a:lvl4pPr>
              <a:defRPr sz="900" b="1">
                <a:solidFill>
                  <a:srgbClr val="91A3B2"/>
                </a:solidFill>
              </a:defRPr>
            </a:lvl4pPr>
            <a:lvl5pPr>
              <a:defRPr sz="900" b="1">
                <a:solidFill>
                  <a:srgbClr val="91A3B2"/>
                </a:solidFill>
              </a:defRPr>
            </a:lvl5pPr>
            <a:lvl6pPr>
              <a:defRPr sz="900" b="1">
                <a:solidFill>
                  <a:srgbClr val="91A3B2"/>
                </a:solidFill>
              </a:defRPr>
            </a:lvl6pPr>
            <a:lvl7pPr>
              <a:defRPr sz="900" b="1">
                <a:solidFill>
                  <a:srgbClr val="91A3B2"/>
                </a:solidFill>
              </a:defRPr>
            </a:lvl7pPr>
            <a:lvl8pPr>
              <a:defRPr sz="900" b="1">
                <a:solidFill>
                  <a:srgbClr val="91A3B2"/>
                </a:solidFill>
              </a:defRPr>
            </a:lvl8pPr>
            <a:lvl9pPr>
              <a:defRPr sz="900" b="1">
                <a:solidFill>
                  <a:srgbClr val="91A3B2"/>
                </a:solidFill>
              </a:defRPr>
            </a:lvl9pPr>
          </a:lstStyle>
          <a:p xmlns:a="http://schemas.openxmlformats.org/drawingml/2006/main">
            <a:pPr>
              <a:defRPr sz="900" b="1">
                <a:solidFill>
                  <a:srgbClr val="91A3B2"/>
                </a:solidFill>
              </a:defRPr>
            </a:pPr>
            <a:r>
              <a:rPr sz="900" b="1">
                <a:solidFill>
                  <a:srgbClr val="91A3B2"/>
                </a:solidFill>
              </a:rPr>
              <a:t>THE SAMPLE AT A GLANCE</a:t>
            </a:r>
          </a:p>
        </p:txBody>
      </p:sp>
      <p:sp>
        <p:nvSpPr>
          <p:cNvPr id="8" name="">
            <a:extLst xmlns:a="http://schemas.openxmlformats.org/drawingml/2006/main">
              <a:ext uri="{FF2B5EF4-FFF2-40B4-BE49-F238E27FC236}">
                <a16:creationId xmlns:a16="http://schemas.microsoft.com/office/drawing/2014/main" id="{EE0B450B-6580-4F71-B7CE-14D2741D9356}"/>
              </a:ext>
            </a:extLst>
          </p:cNvPr>
          <p:cNvSpPr>
            <a:spLocks xmlns:a="http://schemas.openxmlformats.org/drawingml/2006/main" noGrp="1"/>
          </p:cNvSpPr>
          <p:nvPr/>
        </p:nvSpPr>
        <p:spPr>
          <a:xfrm xmlns:a="http://schemas.openxmlformats.org/drawingml/2006/main">
            <a:off x="7620000" y="2238375"/>
            <a:ext cx="123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FFFFFF"/>
                </a:solidFill>
              </a:defRPr>
            </a:defPPr>
            <a:lvl1pPr>
              <a:defRPr sz="2550" b="1">
                <a:solidFill>
                  <a:srgbClr val="FFFFFF"/>
                </a:solidFill>
              </a:defRPr>
            </a:lvl1pPr>
            <a:lvl2pPr>
              <a:defRPr sz="2550" b="1">
                <a:solidFill>
                  <a:srgbClr val="FFFFFF"/>
                </a:solidFill>
              </a:defRPr>
            </a:lvl2pPr>
            <a:lvl3pPr>
              <a:defRPr sz="2550" b="1">
                <a:solidFill>
                  <a:srgbClr val="FFFFFF"/>
                </a:solidFill>
              </a:defRPr>
            </a:lvl3pPr>
            <a:lvl4pPr>
              <a:defRPr sz="2550" b="1">
                <a:solidFill>
                  <a:srgbClr val="FFFFFF"/>
                </a:solidFill>
              </a:defRPr>
            </a:lvl4pPr>
            <a:lvl5pPr>
              <a:defRPr sz="2550" b="1">
                <a:solidFill>
                  <a:srgbClr val="FFFFFF"/>
                </a:solidFill>
              </a:defRPr>
            </a:lvl5pPr>
            <a:lvl6pPr>
              <a:defRPr sz="2550" b="1">
                <a:solidFill>
                  <a:srgbClr val="FFFFFF"/>
                </a:solidFill>
              </a:defRPr>
            </a:lvl6pPr>
            <a:lvl7pPr>
              <a:defRPr sz="2550" b="1">
                <a:solidFill>
                  <a:srgbClr val="FFFFFF"/>
                </a:solidFill>
              </a:defRPr>
            </a:lvl7pPr>
            <a:lvl8pPr>
              <a:defRPr sz="2550" b="1">
                <a:solidFill>
                  <a:srgbClr val="FFFFFF"/>
                </a:solidFill>
              </a:defRPr>
            </a:lvl8pPr>
            <a:lvl9pPr>
              <a:defRPr sz="2550" b="1">
                <a:solidFill>
                  <a:srgbClr val="FFFFFF"/>
                </a:solidFill>
              </a:defRPr>
            </a:lvl9pPr>
          </a:lstStyle>
          <a:p xmlns:a="http://schemas.openxmlformats.org/drawingml/2006/main">
            <a:pPr>
              <a:defRPr sz="2550" b="1">
                <a:solidFill>
                  <a:srgbClr val="FFFFFF"/>
                </a:solidFill>
              </a:defRPr>
            </a:pPr>
            <a:r>
              <a:rPr sz="2550" b="1">
                <a:solidFill>
                  <a:srgbClr val="FFFFFF"/>
                </a:solidFill>
              </a:rPr>
              <a:t>44</a:t>
            </a:r>
          </a:p>
        </p:txBody>
      </p:sp>
      <p:sp>
        <p:nvSpPr>
          <p:cNvPr id="9" name="">
            <a:extLst xmlns:a="http://schemas.openxmlformats.org/drawingml/2006/main">
              <a:ext uri="{FF2B5EF4-FFF2-40B4-BE49-F238E27FC236}">
                <a16:creationId xmlns:a16="http://schemas.microsoft.com/office/drawing/2014/main" id="{765BE4D5-F8FC-410F-8315-64176B4D0233}"/>
              </a:ext>
            </a:extLst>
          </p:cNvPr>
          <p:cNvSpPr>
            <a:spLocks xmlns:a="http://schemas.openxmlformats.org/drawingml/2006/main" noGrp="1"/>
          </p:cNvSpPr>
          <p:nvPr/>
        </p:nvSpPr>
        <p:spPr>
          <a:xfrm xmlns:a="http://schemas.openxmlformats.org/drawingml/2006/main">
            <a:off x="8991600" y="23526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BAC5CE"/>
                </a:solidFill>
              </a:defRPr>
            </a:defPPr>
            <a:lvl1pPr>
              <a:defRPr sz="1125" b="0">
                <a:solidFill>
                  <a:srgbClr val="BAC5CE"/>
                </a:solidFill>
              </a:defRPr>
            </a:lvl1pPr>
            <a:lvl2pPr>
              <a:defRPr sz="1125" b="0">
                <a:solidFill>
                  <a:srgbClr val="BAC5CE"/>
                </a:solidFill>
              </a:defRPr>
            </a:lvl2pPr>
            <a:lvl3pPr>
              <a:defRPr sz="1125" b="0">
                <a:solidFill>
                  <a:srgbClr val="BAC5CE"/>
                </a:solidFill>
              </a:defRPr>
            </a:lvl3pPr>
            <a:lvl4pPr>
              <a:defRPr sz="1125" b="0">
                <a:solidFill>
                  <a:srgbClr val="BAC5CE"/>
                </a:solidFill>
              </a:defRPr>
            </a:lvl4pPr>
            <a:lvl5pPr>
              <a:defRPr sz="1125" b="0">
                <a:solidFill>
                  <a:srgbClr val="BAC5CE"/>
                </a:solidFill>
              </a:defRPr>
            </a:lvl5pPr>
            <a:lvl6pPr>
              <a:defRPr sz="1125" b="0">
                <a:solidFill>
                  <a:srgbClr val="BAC5CE"/>
                </a:solidFill>
              </a:defRPr>
            </a:lvl6pPr>
            <a:lvl7pPr>
              <a:defRPr sz="1125" b="0">
                <a:solidFill>
                  <a:srgbClr val="BAC5CE"/>
                </a:solidFill>
              </a:defRPr>
            </a:lvl7pPr>
            <a:lvl8pPr>
              <a:defRPr sz="1125" b="0">
                <a:solidFill>
                  <a:srgbClr val="BAC5CE"/>
                </a:solidFill>
              </a:defRPr>
            </a:lvl8pPr>
            <a:lvl9pPr>
              <a:defRPr sz="1125" b="0">
                <a:solidFill>
                  <a:srgbClr val="BAC5CE"/>
                </a:solidFill>
              </a:defRPr>
            </a:lvl9pPr>
          </a:lstStyle>
          <a:p xmlns:a="http://schemas.openxmlformats.org/drawingml/2006/main">
            <a:pPr>
              <a:defRPr sz="1125" b="0">
                <a:solidFill>
                  <a:srgbClr val="BAC5CE"/>
                </a:solidFill>
              </a:defRPr>
            </a:pPr>
            <a:r>
              <a:rPr sz="1125" b="0">
                <a:solidFill>
                  <a:srgbClr val="BAC5CE"/>
                </a:solidFill>
              </a:rPr>
              <a:t>unique sources</a:t>
            </a:r>
          </a:p>
        </p:txBody>
      </p:sp>
      <p:sp>
        <p:nvSpPr>
          <p:cNvPr id="10" name="">
            <a:extLst xmlns:a="http://schemas.openxmlformats.org/drawingml/2006/main">
              <a:ext uri="{FF2B5EF4-FFF2-40B4-BE49-F238E27FC236}">
                <a16:creationId xmlns:a16="http://schemas.microsoft.com/office/drawing/2014/main" id="{6A005905-40CF-40CD-8CBA-2131B2E7DA3C}"/>
              </a:ext>
            </a:extLst>
          </p:cNvPr>
          <p:cNvSpPr>
            <a:spLocks xmlns:a="http://schemas.openxmlformats.org/drawingml/2006/main" noGrp="1"/>
          </p:cNvSpPr>
          <p:nvPr/>
        </p:nvSpPr>
        <p:spPr>
          <a:xfrm xmlns:a="http://schemas.openxmlformats.org/drawingml/2006/main">
            <a:off x="7620000" y="2838450"/>
            <a:ext cx="3333750" cy="9525"/>
          </a:xfrm>
          <a:prstGeom xmlns:a="http://schemas.openxmlformats.org/drawingml/2006/main" prst="rect">
            <a:avLst/>
          </a:prstGeom>
          <a:solidFill xmlns:a="http://schemas.openxmlformats.org/drawingml/2006/main">
            <a:srgbClr val="34455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B1FC99-1F62-43F7-A3C1-7D9542995BE8}"/>
              </a:ext>
            </a:extLst>
          </p:cNvPr>
          <p:cNvSpPr>
            <a:spLocks xmlns:a="http://schemas.openxmlformats.org/drawingml/2006/main" noGrp="1"/>
          </p:cNvSpPr>
          <p:nvPr/>
        </p:nvSpPr>
        <p:spPr>
          <a:xfrm xmlns:a="http://schemas.openxmlformats.org/drawingml/2006/main">
            <a:off x="7620000" y="3105150"/>
            <a:ext cx="123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7DD9C9"/>
                </a:solidFill>
              </a:defRPr>
            </a:defPPr>
            <a:lvl1pPr>
              <a:defRPr sz="2550" b="1">
                <a:solidFill>
                  <a:srgbClr val="7DD9C9"/>
                </a:solidFill>
              </a:defRPr>
            </a:lvl1pPr>
            <a:lvl2pPr>
              <a:defRPr sz="2550" b="1">
                <a:solidFill>
                  <a:srgbClr val="7DD9C9"/>
                </a:solidFill>
              </a:defRPr>
            </a:lvl2pPr>
            <a:lvl3pPr>
              <a:defRPr sz="2550" b="1">
                <a:solidFill>
                  <a:srgbClr val="7DD9C9"/>
                </a:solidFill>
              </a:defRPr>
            </a:lvl3pPr>
            <a:lvl4pPr>
              <a:defRPr sz="2550" b="1">
                <a:solidFill>
                  <a:srgbClr val="7DD9C9"/>
                </a:solidFill>
              </a:defRPr>
            </a:lvl4pPr>
            <a:lvl5pPr>
              <a:defRPr sz="2550" b="1">
                <a:solidFill>
                  <a:srgbClr val="7DD9C9"/>
                </a:solidFill>
              </a:defRPr>
            </a:lvl5pPr>
            <a:lvl6pPr>
              <a:defRPr sz="2550" b="1">
                <a:solidFill>
                  <a:srgbClr val="7DD9C9"/>
                </a:solidFill>
              </a:defRPr>
            </a:lvl6pPr>
            <a:lvl7pPr>
              <a:defRPr sz="2550" b="1">
                <a:solidFill>
                  <a:srgbClr val="7DD9C9"/>
                </a:solidFill>
              </a:defRPr>
            </a:lvl7pPr>
            <a:lvl8pPr>
              <a:defRPr sz="2550" b="1">
                <a:solidFill>
                  <a:srgbClr val="7DD9C9"/>
                </a:solidFill>
              </a:defRPr>
            </a:lvl8pPr>
            <a:lvl9pPr>
              <a:defRPr sz="2550" b="1">
                <a:solidFill>
                  <a:srgbClr val="7DD9C9"/>
                </a:solidFill>
              </a:defRPr>
            </a:lvl9pPr>
          </a:lstStyle>
          <a:p xmlns:a="http://schemas.openxmlformats.org/drawingml/2006/main">
            <a:pPr>
              <a:defRPr sz="2550" b="1">
                <a:solidFill>
                  <a:srgbClr val="7DD9C9"/>
                </a:solidFill>
              </a:defRPr>
            </a:pPr>
            <a:r>
              <a:rPr sz="2550" b="1">
                <a:solidFill>
                  <a:srgbClr val="7DD9C9"/>
                </a:solidFill>
              </a:rPr>
              <a:t>18</a:t>
            </a:r>
          </a:p>
        </p:txBody>
      </p:sp>
      <p:sp>
        <p:nvSpPr>
          <p:cNvPr id="12" name="">
            <a:extLst xmlns:a="http://schemas.openxmlformats.org/drawingml/2006/main">
              <a:ext uri="{FF2B5EF4-FFF2-40B4-BE49-F238E27FC236}">
                <a16:creationId xmlns:a16="http://schemas.microsoft.com/office/drawing/2014/main" id="{F1021924-280A-4D67-986A-516D5D22C097}"/>
              </a:ext>
            </a:extLst>
          </p:cNvPr>
          <p:cNvSpPr>
            <a:spLocks xmlns:a="http://schemas.openxmlformats.org/drawingml/2006/main" noGrp="1"/>
          </p:cNvSpPr>
          <p:nvPr/>
        </p:nvSpPr>
        <p:spPr>
          <a:xfrm xmlns:a="http://schemas.openxmlformats.org/drawingml/2006/main">
            <a:off x="8991600" y="32194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BAC5CE"/>
                </a:solidFill>
              </a:defRPr>
            </a:defPPr>
            <a:lvl1pPr>
              <a:defRPr sz="1125" b="0">
                <a:solidFill>
                  <a:srgbClr val="BAC5CE"/>
                </a:solidFill>
              </a:defRPr>
            </a:lvl1pPr>
            <a:lvl2pPr>
              <a:defRPr sz="1125" b="0">
                <a:solidFill>
                  <a:srgbClr val="BAC5CE"/>
                </a:solidFill>
              </a:defRPr>
            </a:lvl2pPr>
            <a:lvl3pPr>
              <a:defRPr sz="1125" b="0">
                <a:solidFill>
                  <a:srgbClr val="BAC5CE"/>
                </a:solidFill>
              </a:defRPr>
            </a:lvl3pPr>
            <a:lvl4pPr>
              <a:defRPr sz="1125" b="0">
                <a:solidFill>
                  <a:srgbClr val="BAC5CE"/>
                </a:solidFill>
              </a:defRPr>
            </a:lvl4pPr>
            <a:lvl5pPr>
              <a:defRPr sz="1125" b="0">
                <a:solidFill>
                  <a:srgbClr val="BAC5CE"/>
                </a:solidFill>
              </a:defRPr>
            </a:lvl5pPr>
            <a:lvl6pPr>
              <a:defRPr sz="1125" b="0">
                <a:solidFill>
                  <a:srgbClr val="BAC5CE"/>
                </a:solidFill>
              </a:defRPr>
            </a:lvl6pPr>
            <a:lvl7pPr>
              <a:defRPr sz="1125" b="0">
                <a:solidFill>
                  <a:srgbClr val="BAC5CE"/>
                </a:solidFill>
              </a:defRPr>
            </a:lvl7pPr>
            <a:lvl8pPr>
              <a:defRPr sz="1125" b="0">
                <a:solidFill>
                  <a:srgbClr val="BAC5CE"/>
                </a:solidFill>
              </a:defRPr>
            </a:lvl8pPr>
            <a:lvl9pPr>
              <a:defRPr sz="1125" b="0">
                <a:solidFill>
                  <a:srgbClr val="BAC5CE"/>
                </a:solidFill>
              </a:defRPr>
            </a:lvl9pPr>
          </a:lstStyle>
          <a:p xmlns:a="http://schemas.openxmlformats.org/drawingml/2006/main">
            <a:pPr>
              <a:defRPr sz="1125" b="0">
                <a:solidFill>
                  <a:srgbClr val="BAC5CE"/>
                </a:solidFill>
              </a:defRPr>
            </a:pPr>
            <a:r>
              <a:rPr sz="1125" b="0">
                <a:solidFill>
                  <a:srgbClr val="BAC5CE"/>
                </a:solidFill>
              </a:rPr>
              <a:t>usable transcripts</a:t>
            </a:r>
          </a:p>
        </p:txBody>
      </p:sp>
      <p:sp>
        <p:nvSpPr>
          <p:cNvPr id="13" name="">
            <a:extLst xmlns:a="http://schemas.openxmlformats.org/drawingml/2006/main">
              <a:ext uri="{FF2B5EF4-FFF2-40B4-BE49-F238E27FC236}">
                <a16:creationId xmlns:a16="http://schemas.microsoft.com/office/drawing/2014/main" id="{0F438644-CE2E-466A-82BB-84BC3C1ED6E7}"/>
              </a:ext>
            </a:extLst>
          </p:cNvPr>
          <p:cNvSpPr>
            <a:spLocks xmlns:a="http://schemas.openxmlformats.org/drawingml/2006/main" noGrp="1"/>
          </p:cNvSpPr>
          <p:nvPr/>
        </p:nvSpPr>
        <p:spPr>
          <a:xfrm xmlns:a="http://schemas.openxmlformats.org/drawingml/2006/main">
            <a:off x="7620000" y="3705225"/>
            <a:ext cx="3333750" cy="9525"/>
          </a:xfrm>
          <a:prstGeom xmlns:a="http://schemas.openxmlformats.org/drawingml/2006/main" prst="rect">
            <a:avLst/>
          </a:prstGeom>
          <a:solidFill xmlns:a="http://schemas.openxmlformats.org/drawingml/2006/main">
            <a:srgbClr val="34455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8D4DFF-6787-4F24-B8C1-EF0EA5D3C03F}"/>
              </a:ext>
            </a:extLst>
          </p:cNvPr>
          <p:cNvSpPr>
            <a:spLocks xmlns:a="http://schemas.openxmlformats.org/drawingml/2006/main" noGrp="1"/>
          </p:cNvSpPr>
          <p:nvPr/>
        </p:nvSpPr>
        <p:spPr>
          <a:xfrm xmlns:a="http://schemas.openxmlformats.org/drawingml/2006/main">
            <a:off x="7620000" y="3971925"/>
            <a:ext cx="123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FFFFFF"/>
                </a:solidFill>
              </a:defRPr>
            </a:defPPr>
            <a:lvl1pPr>
              <a:defRPr sz="2550" b="1">
                <a:solidFill>
                  <a:srgbClr val="FFFFFF"/>
                </a:solidFill>
              </a:defRPr>
            </a:lvl1pPr>
            <a:lvl2pPr>
              <a:defRPr sz="2550" b="1">
                <a:solidFill>
                  <a:srgbClr val="FFFFFF"/>
                </a:solidFill>
              </a:defRPr>
            </a:lvl2pPr>
            <a:lvl3pPr>
              <a:defRPr sz="2550" b="1">
                <a:solidFill>
                  <a:srgbClr val="FFFFFF"/>
                </a:solidFill>
              </a:defRPr>
            </a:lvl3pPr>
            <a:lvl4pPr>
              <a:defRPr sz="2550" b="1">
                <a:solidFill>
                  <a:srgbClr val="FFFFFF"/>
                </a:solidFill>
              </a:defRPr>
            </a:lvl4pPr>
            <a:lvl5pPr>
              <a:defRPr sz="2550" b="1">
                <a:solidFill>
                  <a:srgbClr val="FFFFFF"/>
                </a:solidFill>
              </a:defRPr>
            </a:lvl5pPr>
            <a:lvl6pPr>
              <a:defRPr sz="2550" b="1">
                <a:solidFill>
                  <a:srgbClr val="FFFFFF"/>
                </a:solidFill>
              </a:defRPr>
            </a:lvl6pPr>
            <a:lvl7pPr>
              <a:defRPr sz="2550" b="1">
                <a:solidFill>
                  <a:srgbClr val="FFFFFF"/>
                </a:solidFill>
              </a:defRPr>
            </a:lvl7pPr>
            <a:lvl8pPr>
              <a:defRPr sz="2550" b="1">
                <a:solidFill>
                  <a:srgbClr val="FFFFFF"/>
                </a:solidFill>
              </a:defRPr>
            </a:lvl8pPr>
            <a:lvl9pPr>
              <a:defRPr sz="2550" b="1">
                <a:solidFill>
                  <a:srgbClr val="FFFFFF"/>
                </a:solidFill>
              </a:defRPr>
            </a:lvl9pPr>
          </a:lstStyle>
          <a:p xmlns:a="http://schemas.openxmlformats.org/drawingml/2006/main">
            <a:pPr>
              <a:defRPr sz="2550" b="1">
                <a:solidFill>
                  <a:srgbClr val="FFFFFF"/>
                </a:solidFill>
              </a:defRPr>
            </a:pPr>
            <a:r>
              <a:rPr sz="2550" b="1">
                <a:solidFill>
                  <a:srgbClr val="FFFFFF"/>
                </a:solidFill>
              </a:rPr>
              <a:t>40.9%</a:t>
            </a:r>
          </a:p>
        </p:txBody>
      </p:sp>
      <p:sp>
        <p:nvSpPr>
          <p:cNvPr id="15" name="">
            <a:extLst xmlns:a="http://schemas.openxmlformats.org/drawingml/2006/main">
              <a:ext uri="{FF2B5EF4-FFF2-40B4-BE49-F238E27FC236}">
                <a16:creationId xmlns:a16="http://schemas.microsoft.com/office/drawing/2014/main" id="{C119A1AE-32A2-43FA-B601-4F815C77B17F}"/>
              </a:ext>
            </a:extLst>
          </p:cNvPr>
          <p:cNvSpPr>
            <a:spLocks xmlns:a="http://schemas.openxmlformats.org/drawingml/2006/main" noGrp="1"/>
          </p:cNvSpPr>
          <p:nvPr/>
        </p:nvSpPr>
        <p:spPr>
          <a:xfrm xmlns:a="http://schemas.openxmlformats.org/drawingml/2006/main">
            <a:off x="8991600" y="408622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BAC5CE"/>
                </a:solidFill>
              </a:defRPr>
            </a:defPPr>
            <a:lvl1pPr>
              <a:defRPr sz="1125" b="0">
                <a:solidFill>
                  <a:srgbClr val="BAC5CE"/>
                </a:solidFill>
              </a:defRPr>
            </a:lvl1pPr>
            <a:lvl2pPr>
              <a:defRPr sz="1125" b="0">
                <a:solidFill>
                  <a:srgbClr val="BAC5CE"/>
                </a:solidFill>
              </a:defRPr>
            </a:lvl2pPr>
            <a:lvl3pPr>
              <a:defRPr sz="1125" b="0">
                <a:solidFill>
                  <a:srgbClr val="BAC5CE"/>
                </a:solidFill>
              </a:defRPr>
            </a:lvl3pPr>
            <a:lvl4pPr>
              <a:defRPr sz="1125" b="0">
                <a:solidFill>
                  <a:srgbClr val="BAC5CE"/>
                </a:solidFill>
              </a:defRPr>
            </a:lvl4pPr>
            <a:lvl5pPr>
              <a:defRPr sz="1125" b="0">
                <a:solidFill>
                  <a:srgbClr val="BAC5CE"/>
                </a:solidFill>
              </a:defRPr>
            </a:lvl5pPr>
            <a:lvl6pPr>
              <a:defRPr sz="1125" b="0">
                <a:solidFill>
                  <a:srgbClr val="BAC5CE"/>
                </a:solidFill>
              </a:defRPr>
            </a:lvl6pPr>
            <a:lvl7pPr>
              <a:defRPr sz="1125" b="0">
                <a:solidFill>
                  <a:srgbClr val="BAC5CE"/>
                </a:solidFill>
              </a:defRPr>
            </a:lvl7pPr>
            <a:lvl8pPr>
              <a:defRPr sz="1125" b="0">
                <a:solidFill>
                  <a:srgbClr val="BAC5CE"/>
                </a:solidFill>
              </a:defRPr>
            </a:lvl8pPr>
            <a:lvl9pPr>
              <a:defRPr sz="1125" b="0">
                <a:solidFill>
                  <a:srgbClr val="BAC5CE"/>
                </a:solidFill>
              </a:defRPr>
            </a:lvl9pPr>
          </a:lstStyle>
          <a:p xmlns:a="http://schemas.openxmlformats.org/drawingml/2006/main">
            <a:pPr>
              <a:defRPr sz="1125" b="0">
                <a:solidFill>
                  <a:srgbClr val="BAC5CE"/>
                </a:solidFill>
              </a:defRPr>
            </a:pPr>
            <a:r>
              <a:rPr sz="1125" b="0">
                <a:solidFill>
                  <a:srgbClr val="BAC5CE"/>
                </a:solidFill>
              </a:rPr>
              <a:t>text coverage</a:t>
            </a:r>
          </a:p>
        </p:txBody>
      </p:sp>
      <p:sp>
        <p:nvSpPr>
          <p:cNvPr id="16" name="">
            <a:extLst xmlns:a="http://schemas.openxmlformats.org/drawingml/2006/main">
              <a:ext uri="{FF2B5EF4-FFF2-40B4-BE49-F238E27FC236}">
                <a16:creationId xmlns:a16="http://schemas.microsoft.com/office/drawing/2014/main" id="{CB0E3163-5A44-4893-BACA-6F876B8CA3BC}"/>
              </a:ext>
            </a:extLst>
          </p:cNvPr>
          <p:cNvSpPr>
            <a:spLocks xmlns:a="http://schemas.openxmlformats.org/drawingml/2006/main" noGrp="1"/>
          </p:cNvSpPr>
          <p:nvPr/>
        </p:nvSpPr>
        <p:spPr>
          <a:xfrm xmlns:a="http://schemas.openxmlformats.org/drawingml/2006/main">
            <a:off x="609600" y="561975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91A3B2"/>
                </a:solidFill>
              </a:defRPr>
            </a:defPPr>
            <a:lvl1pPr>
              <a:defRPr sz="1200" b="0">
                <a:solidFill>
                  <a:srgbClr val="91A3B2"/>
                </a:solidFill>
              </a:defRPr>
            </a:lvl1pPr>
            <a:lvl2pPr>
              <a:defRPr sz="1200" b="0">
                <a:solidFill>
                  <a:srgbClr val="91A3B2"/>
                </a:solidFill>
              </a:defRPr>
            </a:lvl2pPr>
            <a:lvl3pPr>
              <a:defRPr sz="1200" b="0">
                <a:solidFill>
                  <a:srgbClr val="91A3B2"/>
                </a:solidFill>
              </a:defRPr>
            </a:lvl3pPr>
            <a:lvl4pPr>
              <a:defRPr sz="1200" b="0">
                <a:solidFill>
                  <a:srgbClr val="91A3B2"/>
                </a:solidFill>
              </a:defRPr>
            </a:lvl4pPr>
            <a:lvl5pPr>
              <a:defRPr sz="1200" b="0">
                <a:solidFill>
                  <a:srgbClr val="91A3B2"/>
                </a:solidFill>
              </a:defRPr>
            </a:lvl5pPr>
            <a:lvl6pPr>
              <a:defRPr sz="1200" b="0">
                <a:solidFill>
                  <a:srgbClr val="91A3B2"/>
                </a:solidFill>
              </a:defRPr>
            </a:lvl6pPr>
            <a:lvl7pPr>
              <a:defRPr sz="1200" b="0">
                <a:solidFill>
                  <a:srgbClr val="91A3B2"/>
                </a:solidFill>
              </a:defRPr>
            </a:lvl7pPr>
            <a:lvl8pPr>
              <a:defRPr sz="1200" b="0">
                <a:solidFill>
                  <a:srgbClr val="91A3B2"/>
                </a:solidFill>
              </a:defRPr>
            </a:lvl8pPr>
            <a:lvl9pPr>
              <a:defRPr sz="1200" b="0">
                <a:solidFill>
                  <a:srgbClr val="91A3B2"/>
                </a:solidFill>
              </a:defRPr>
            </a:lvl9pPr>
          </a:lstStyle>
          <a:p xmlns:a="http://schemas.openxmlformats.org/drawingml/2006/main">
            <a:pPr>
              <a:defRPr sz="1200" b="0">
                <a:solidFill>
                  <a:srgbClr val="91A3B2"/>
                </a:solidFill>
              </a:defRPr>
            </a:pPr>
            <a:r>
              <a:rPr sz="1200" b="0">
                <a:solidFill>
                  <a:srgbClr val="91A3B2"/>
                </a:solidFill>
              </a:rPr>
              <a:t>Selected activity, not a team performance report.</a:t>
            </a:r>
          </a:p>
        </p:txBody>
      </p:sp>
      <p:sp>
        <p:nvSpPr>
          <p:cNvPr id="17" name="">
            <a:extLst xmlns:a="http://schemas.openxmlformats.org/drawingml/2006/main">
              <a:ext uri="{FF2B5EF4-FFF2-40B4-BE49-F238E27FC236}">
                <a16:creationId xmlns:a16="http://schemas.microsoft.com/office/drawing/2014/main" id="{4ECFAAE8-6DBF-400B-BB9F-E6FA22AEF674}"/>
              </a:ext>
            </a:extLst>
          </p:cNvPr>
          <p:cNvSpPr>
            <a:spLocks xmlns:a="http://schemas.openxmlformats.org/drawingml/2006/main" noGrp="1"/>
          </p:cNvSpPr>
          <p:nvPr/>
        </p:nvSpPr>
        <p:spPr>
          <a:xfrm xmlns:a="http://schemas.openxmlformats.org/drawingml/2006/main">
            <a:off x="609600" y="6457950"/>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91A3B2"/>
                </a:solidFill>
              </a:defRPr>
            </a:defPPr>
            <a:lvl1pPr>
              <a:defRPr sz="750" b="1">
                <a:solidFill>
                  <a:srgbClr val="91A3B2"/>
                </a:solidFill>
              </a:defRPr>
            </a:lvl1pPr>
            <a:lvl2pPr>
              <a:defRPr sz="750" b="1">
                <a:solidFill>
                  <a:srgbClr val="91A3B2"/>
                </a:solidFill>
              </a:defRPr>
            </a:lvl2pPr>
            <a:lvl3pPr>
              <a:defRPr sz="750" b="1">
                <a:solidFill>
                  <a:srgbClr val="91A3B2"/>
                </a:solidFill>
              </a:defRPr>
            </a:lvl3pPr>
            <a:lvl4pPr>
              <a:defRPr sz="750" b="1">
                <a:solidFill>
                  <a:srgbClr val="91A3B2"/>
                </a:solidFill>
              </a:defRPr>
            </a:lvl4pPr>
            <a:lvl5pPr>
              <a:defRPr sz="750" b="1">
                <a:solidFill>
                  <a:srgbClr val="91A3B2"/>
                </a:solidFill>
              </a:defRPr>
            </a:lvl5pPr>
            <a:lvl6pPr>
              <a:defRPr sz="750" b="1">
                <a:solidFill>
                  <a:srgbClr val="91A3B2"/>
                </a:solidFill>
              </a:defRPr>
            </a:lvl6pPr>
            <a:lvl7pPr>
              <a:defRPr sz="750" b="1">
                <a:solidFill>
                  <a:srgbClr val="91A3B2"/>
                </a:solidFill>
              </a:defRPr>
            </a:lvl7pPr>
            <a:lvl8pPr>
              <a:defRPr sz="750" b="1">
                <a:solidFill>
                  <a:srgbClr val="91A3B2"/>
                </a:solidFill>
              </a:defRPr>
            </a:lvl8pPr>
            <a:lvl9pPr>
              <a:defRPr sz="750" b="1">
                <a:solidFill>
                  <a:srgbClr val="91A3B2"/>
                </a:solidFill>
              </a:defRPr>
            </a:lvl9pPr>
          </a:lstStyle>
          <a:p xmlns:a="http://schemas.openxmlformats.org/drawingml/2006/main">
            <a:pPr>
              <a:defRPr sz="750" b="1">
                <a:solidFill>
                  <a:srgbClr val="91A3B2"/>
                </a:solidFill>
              </a:defRPr>
            </a:pPr>
            <a:r>
              <a:rPr sz="750" b="1">
                <a:solidFill>
                  <a:srgbClr val="91A3B2"/>
                </a:solidFill>
              </a:rPr>
              <a:t>SIGNAL  /  FIVE-SLIDE PRODUCT REVIEW</a:t>
            </a:r>
          </a:p>
        </p:txBody>
      </p:sp>
      <p:sp>
        <p:nvSpPr>
          <p:cNvPr id="18" name="">
            <a:extLst xmlns:a="http://schemas.openxmlformats.org/drawingml/2006/main">
              <a:ext uri="{FF2B5EF4-FFF2-40B4-BE49-F238E27FC236}">
                <a16:creationId xmlns:a16="http://schemas.microsoft.com/office/drawing/2014/main" id="{FFE8AF07-E591-44F6-BB3E-8BBE12B0691D}"/>
              </a:ext>
            </a:extLst>
          </p:cNvPr>
          <p:cNvSpPr>
            <a:spLocks xmlns:a="http://schemas.openxmlformats.org/drawingml/2006/main" noGrp="1"/>
          </p:cNvSpPr>
          <p:nvPr/>
        </p:nvSpPr>
        <p:spPr>
          <a:xfrm xmlns:a="http://schemas.openxmlformats.org/drawingml/2006/main">
            <a:off x="11258550" y="64579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91A3B2"/>
                </a:solidFill>
              </a:defRPr>
            </a:defPPr>
            <a:lvl1pPr>
              <a:defRPr sz="750" b="1">
                <a:solidFill>
                  <a:srgbClr val="91A3B2"/>
                </a:solidFill>
              </a:defRPr>
            </a:lvl1pPr>
            <a:lvl2pPr>
              <a:defRPr sz="750" b="1">
                <a:solidFill>
                  <a:srgbClr val="91A3B2"/>
                </a:solidFill>
              </a:defRPr>
            </a:lvl2pPr>
            <a:lvl3pPr>
              <a:defRPr sz="750" b="1">
                <a:solidFill>
                  <a:srgbClr val="91A3B2"/>
                </a:solidFill>
              </a:defRPr>
            </a:lvl3pPr>
            <a:lvl4pPr>
              <a:defRPr sz="750" b="1">
                <a:solidFill>
                  <a:srgbClr val="91A3B2"/>
                </a:solidFill>
              </a:defRPr>
            </a:lvl4pPr>
            <a:lvl5pPr>
              <a:defRPr sz="750" b="1">
                <a:solidFill>
                  <a:srgbClr val="91A3B2"/>
                </a:solidFill>
              </a:defRPr>
            </a:lvl5pPr>
            <a:lvl6pPr>
              <a:defRPr sz="750" b="1">
                <a:solidFill>
                  <a:srgbClr val="91A3B2"/>
                </a:solidFill>
              </a:defRPr>
            </a:lvl6pPr>
            <a:lvl7pPr>
              <a:defRPr sz="750" b="1">
                <a:solidFill>
                  <a:srgbClr val="91A3B2"/>
                </a:solidFill>
              </a:defRPr>
            </a:lvl7pPr>
            <a:lvl8pPr>
              <a:defRPr sz="750" b="1">
                <a:solidFill>
                  <a:srgbClr val="91A3B2"/>
                </a:solidFill>
              </a:defRPr>
            </a:lvl8pPr>
            <a:lvl9pPr>
              <a:defRPr sz="750" b="1">
                <a:solidFill>
                  <a:srgbClr val="91A3B2"/>
                </a:solidFill>
              </a:defRPr>
            </a:lvl9pPr>
          </a:lstStyle>
          <a:p xmlns:a="http://schemas.openxmlformats.org/drawingml/2006/main">
            <a:pPr>
              <a:defRPr sz="750" b="1">
                <a:solidFill>
                  <a:srgbClr val="91A3B2"/>
                </a:solidFill>
              </a:defRPr>
            </a:pPr>
            <a:r>
              <a:rPr sz="750" b="1">
                <a:solidFill>
                  <a:srgbClr val="91A3B2"/>
                </a:solidFill>
              </a:rPr>
              <a:t>01</a:t>
            </a:r>
          </a:p>
        </p:txBody>
      </p:sp>
    </p:spTree>
    <p:extLst>
      <p:ext uri="{BB962C8B-B14F-4D97-AF65-F5344CB8AC3E}">
        <p14:creationId xmlns:p14="http://schemas.microsoft.com/office/powerpoint/2010/main" val="893526961"/>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E5FDBC2-C839-43A5-98CF-E9F4EF5DFF3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D9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91F504-EA95-45D0-BA49-A44151118C1E}"/>
              </a:ext>
            </a:extLst>
          </p:cNvPr>
          <p:cNvSpPr>
            <a:spLocks xmlns:a="http://schemas.openxmlformats.org/drawingml/2006/main" noGrp="1"/>
          </p:cNvSpPr>
          <p:nvPr/>
        </p:nvSpPr>
        <p:spPr>
          <a:xfrm xmlns:a="http://schemas.openxmlformats.org/drawingml/2006/main">
            <a:off x="609600" y="3238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01  /  MANAGER PROBLEM</a:t>
            </a:r>
          </a:p>
        </p:txBody>
      </p:sp>
      <p:sp>
        <p:nvSpPr>
          <p:cNvPr id="3" name="">
            <a:extLst xmlns:a="http://schemas.openxmlformats.org/drawingml/2006/main">
              <a:ext uri="{FF2B5EF4-FFF2-40B4-BE49-F238E27FC236}">
                <a16:creationId xmlns:a16="http://schemas.microsoft.com/office/drawing/2014/main" id="{101DB295-F38A-4B0E-8FBE-5F00B5724DA0}"/>
              </a:ext>
            </a:extLst>
          </p:cNvPr>
          <p:cNvSpPr>
            <a:spLocks xmlns:a="http://schemas.openxmlformats.org/drawingml/2006/main" noGrp="1"/>
          </p:cNvSpPr>
          <p:nvPr/>
        </p:nvSpPr>
        <p:spPr>
          <a:xfrm xmlns:a="http://schemas.openxmlformats.org/drawingml/2006/main">
            <a:off x="609600" y="60007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92535"/>
                </a:solidFill>
              </a:defRPr>
            </a:defPPr>
            <a:lvl1pPr>
              <a:defRPr sz="2400" b="1">
                <a:solidFill>
                  <a:srgbClr val="192535"/>
                </a:solidFill>
              </a:defRPr>
            </a:lvl1pPr>
            <a:lvl2pPr>
              <a:defRPr sz="2400" b="1">
                <a:solidFill>
                  <a:srgbClr val="192535"/>
                </a:solidFill>
              </a:defRPr>
            </a:lvl2pPr>
            <a:lvl3pPr>
              <a:defRPr sz="2400" b="1">
                <a:solidFill>
                  <a:srgbClr val="192535"/>
                </a:solidFill>
              </a:defRPr>
            </a:lvl3pPr>
            <a:lvl4pPr>
              <a:defRPr sz="2400" b="1">
                <a:solidFill>
                  <a:srgbClr val="192535"/>
                </a:solidFill>
              </a:defRPr>
            </a:lvl4pPr>
            <a:lvl5pPr>
              <a:defRPr sz="2400" b="1">
                <a:solidFill>
                  <a:srgbClr val="192535"/>
                </a:solidFill>
              </a:defRPr>
            </a:lvl5pPr>
            <a:lvl6pPr>
              <a:defRPr sz="2400" b="1">
                <a:solidFill>
                  <a:srgbClr val="192535"/>
                </a:solidFill>
              </a:defRPr>
            </a:lvl6pPr>
            <a:lvl7pPr>
              <a:defRPr sz="2400" b="1">
                <a:solidFill>
                  <a:srgbClr val="192535"/>
                </a:solidFill>
              </a:defRPr>
            </a:lvl7pPr>
            <a:lvl8pPr>
              <a:defRPr sz="2400" b="1">
                <a:solidFill>
                  <a:srgbClr val="192535"/>
                </a:solidFill>
              </a:defRPr>
            </a:lvl8pPr>
            <a:lvl9pPr>
              <a:defRPr sz="2400" b="1">
                <a:solidFill>
                  <a:srgbClr val="192535"/>
                </a:solidFill>
              </a:defRPr>
            </a:lvl9pPr>
          </a:lstStyle>
          <a:p xmlns:a="http://schemas.openxmlformats.org/drawingml/2006/main">
            <a:pPr>
              <a:defRPr sz="2400" b="1">
                <a:solidFill>
                  <a:srgbClr val="192535"/>
                </a:solidFill>
              </a:defRPr>
            </a:pPr>
            <a:r>
              <a:rPr sz="2400" b="1">
                <a:solidFill>
                  <a:srgbClr val="192535"/>
                </a:solidFill>
              </a:rPr>
              <a:t>A queue that puts evidence before activity totals</a:t>
            </a:r>
          </a:p>
        </p:txBody>
      </p:sp>
      <p:sp>
        <p:nvSpPr>
          <p:cNvPr id="4" name="">
            <a:extLst xmlns:a="http://schemas.openxmlformats.org/drawingml/2006/main">
              <a:ext uri="{FF2B5EF4-FFF2-40B4-BE49-F238E27FC236}">
                <a16:creationId xmlns:a16="http://schemas.microsoft.com/office/drawing/2014/main" id="{E7438905-4E94-40D1-AE7F-03083CB14607}"/>
              </a:ext>
            </a:extLst>
          </p:cNvPr>
          <p:cNvSpPr>
            <a:spLocks xmlns:a="http://schemas.openxmlformats.org/drawingml/2006/main" noGrp="1"/>
          </p:cNvSpPr>
          <p:nvPr/>
        </p:nvSpPr>
        <p:spPr>
          <a:xfrm xmlns:a="http://schemas.openxmlformats.org/drawingml/2006/main">
            <a:off x="609600" y="6457950"/>
            <a:ext cx="762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SIGNAL  /  REVENUE INTELLIGENCE INBOX  /  PRIVATE ASSESSMENT SAMPLE</a:t>
            </a:r>
          </a:p>
        </p:txBody>
      </p:sp>
      <p:sp>
        <p:nvSpPr>
          <p:cNvPr id="5" name="">
            <a:extLst xmlns:a="http://schemas.openxmlformats.org/drawingml/2006/main">
              <a:ext uri="{FF2B5EF4-FFF2-40B4-BE49-F238E27FC236}">
                <a16:creationId xmlns:a16="http://schemas.microsoft.com/office/drawing/2014/main" id="{77817DF1-8321-4753-84FA-6AD87FFE89D8}"/>
              </a:ext>
            </a:extLst>
          </p:cNvPr>
          <p:cNvSpPr>
            <a:spLocks xmlns:a="http://schemas.openxmlformats.org/drawingml/2006/main" noGrp="1"/>
          </p:cNvSpPr>
          <p:nvPr/>
        </p:nvSpPr>
        <p:spPr>
          <a:xfrm xmlns:a="http://schemas.openxmlformats.org/drawingml/2006/main">
            <a:off x="11258550" y="64579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02</a:t>
            </a:r>
          </a:p>
        </p:txBody>
      </p:sp>
      <p:sp>
        <p:nvSpPr>
          <p:cNvPr id="6" name="">
            <a:extLst xmlns:a="http://schemas.openxmlformats.org/drawingml/2006/main">
              <a:ext uri="{FF2B5EF4-FFF2-40B4-BE49-F238E27FC236}">
                <a16:creationId xmlns:a16="http://schemas.microsoft.com/office/drawing/2014/main" id="{938D2ED7-7876-4F08-AA08-7BA2DEBB983C}"/>
              </a:ext>
            </a:extLst>
          </p:cNvPr>
          <p:cNvSpPr>
            <a:spLocks xmlns:a="http://schemas.openxmlformats.org/drawingml/2006/main" noGrp="1"/>
          </p:cNvSpPr>
          <p:nvPr/>
        </p:nvSpPr>
        <p:spPr>
          <a:xfrm xmlns:a="http://schemas.openxmlformats.org/drawingml/2006/main">
            <a:off x="609600" y="1304925"/>
            <a:ext cx="33337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9525">
            <a:solidFill>
              <a:srgbClr val="E1E7EB"/>
            </a:solidFill>
            <a:prstDash val="solid"/>
          </a:ln>
        </p:spPr>
      </p:sp>
      <p:sp>
        <p:nvSpPr>
          <p:cNvPr id="7" name="">
            <a:extLst xmlns:a="http://schemas.openxmlformats.org/drawingml/2006/main">
              <a:ext uri="{FF2B5EF4-FFF2-40B4-BE49-F238E27FC236}">
                <a16:creationId xmlns:a16="http://schemas.microsoft.com/office/drawing/2014/main" id="{7946D2C5-AFEF-41DD-8B3A-84427604C298}"/>
              </a:ext>
            </a:extLst>
          </p:cNvPr>
          <p:cNvSpPr>
            <a:spLocks xmlns:a="http://schemas.openxmlformats.org/drawingml/2006/main" noGrp="1"/>
          </p:cNvSpPr>
          <p:nvPr/>
        </p:nvSpPr>
        <p:spPr>
          <a:xfrm xmlns:a="http://schemas.openxmlformats.org/drawingml/2006/main">
            <a:off x="609600" y="1304925"/>
            <a:ext cx="47625" cy="1409700"/>
          </a:xfrm>
          <a:prstGeom xmlns:a="http://schemas.openxmlformats.org/drawingml/2006/main" prst="roundRect">
            <a:avLst>
              <a:gd name="adj" fmla="val 50000"/>
            </a:avLst>
          </a:prstGeom>
          <a:solidFill xmlns:a="http://schemas.openxmlformats.org/drawingml/2006/main">
            <a:srgbClr val="0D9B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C4F0FC-658C-4FC6-8146-47CF2E0E75D1}"/>
              </a:ext>
            </a:extLst>
          </p:cNvPr>
          <p:cNvSpPr>
            <a:spLocks xmlns:a="http://schemas.openxmlformats.org/drawingml/2006/main" noGrp="1"/>
          </p:cNvSpPr>
          <p:nvPr/>
        </p:nvSpPr>
        <p:spPr>
          <a:xfrm xmlns:a="http://schemas.openxmlformats.org/drawingml/2006/main">
            <a:off x="800100" y="14478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ACTIVITY</a:t>
            </a:r>
          </a:p>
        </p:txBody>
      </p:sp>
      <p:sp>
        <p:nvSpPr>
          <p:cNvPr id="9" name="">
            <a:extLst xmlns:a="http://schemas.openxmlformats.org/drawingml/2006/main">
              <a:ext uri="{FF2B5EF4-FFF2-40B4-BE49-F238E27FC236}">
                <a16:creationId xmlns:a16="http://schemas.microsoft.com/office/drawing/2014/main" id="{3F5DBCB8-B211-475D-A0DE-A9F091A6BE25}"/>
              </a:ext>
            </a:extLst>
          </p:cNvPr>
          <p:cNvSpPr>
            <a:spLocks xmlns:a="http://schemas.openxmlformats.org/drawingml/2006/main" noGrp="1"/>
          </p:cNvSpPr>
          <p:nvPr/>
        </p:nvSpPr>
        <p:spPr>
          <a:xfrm xmlns:a="http://schemas.openxmlformats.org/drawingml/2006/main">
            <a:off x="800100" y="1771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30 calls + 14 meetings</a:t>
            </a:r>
          </a:p>
          <a:p xmlns:a="http://schemas.openxmlformats.org/drawingml/2006/main">
            <a:pPr>
              <a:defRPr sz="975" b="0">
                <a:solidFill>
                  <a:srgbClr val="647285"/>
                </a:solidFill>
              </a:defRPr>
            </a:pPr>
            <a:r>
              <a:rPr sz="975" b="0">
                <a:solidFill>
                  <a:srgbClr val="647285"/>
                </a:solidFill>
              </a:rPr>
              <a:t>One day in Asia/Kolkata</a:t>
            </a:r>
          </a:p>
          <a:p xmlns:a="http://schemas.openxmlformats.org/drawingml/2006/main">
            <a:pPr>
              <a:defRPr sz="975" b="0">
                <a:solidFill>
                  <a:srgbClr val="647285"/>
                </a:solidFill>
              </a:defRPr>
            </a:pPr>
            <a:r>
              <a:rPr sz="975" b="0">
                <a:solidFill>
                  <a:srgbClr val="647285"/>
                </a:solidFill>
              </a:rPr>
              <a:t>Distinct identity: (type, source ID)</a:t>
            </a:r>
          </a:p>
        </p:txBody>
      </p:sp>
      <p:sp>
        <p:nvSpPr>
          <p:cNvPr id="10" name="">
            <a:extLst xmlns:a="http://schemas.openxmlformats.org/drawingml/2006/main">
              <a:ext uri="{FF2B5EF4-FFF2-40B4-BE49-F238E27FC236}">
                <a16:creationId xmlns:a16="http://schemas.microsoft.com/office/drawing/2014/main" id="{EA7E698E-9285-444F-99EB-3701ECC4A4B0}"/>
              </a:ext>
            </a:extLst>
          </p:cNvPr>
          <p:cNvSpPr>
            <a:spLocks xmlns:a="http://schemas.openxmlformats.org/drawingml/2006/main" noGrp="1"/>
          </p:cNvSpPr>
          <p:nvPr/>
        </p:nvSpPr>
        <p:spPr>
          <a:xfrm xmlns:a="http://schemas.openxmlformats.org/drawingml/2006/main">
            <a:off x="4143375" y="1304925"/>
            <a:ext cx="33337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9525">
            <a:solidFill>
              <a:srgbClr val="E1E7EB"/>
            </a:solidFill>
            <a:prstDash val="solid"/>
          </a:ln>
        </p:spPr>
      </p:sp>
      <p:sp>
        <p:nvSpPr>
          <p:cNvPr id="11" name="">
            <a:extLst xmlns:a="http://schemas.openxmlformats.org/drawingml/2006/main">
              <a:ext uri="{FF2B5EF4-FFF2-40B4-BE49-F238E27FC236}">
                <a16:creationId xmlns:a16="http://schemas.microsoft.com/office/drawing/2014/main" id="{11356C92-BACB-4054-AAA0-CD3F51A99AFF}"/>
              </a:ext>
            </a:extLst>
          </p:cNvPr>
          <p:cNvSpPr>
            <a:spLocks xmlns:a="http://schemas.openxmlformats.org/drawingml/2006/main" noGrp="1"/>
          </p:cNvSpPr>
          <p:nvPr/>
        </p:nvSpPr>
        <p:spPr>
          <a:xfrm xmlns:a="http://schemas.openxmlformats.org/drawingml/2006/main">
            <a:off x="4143375" y="1304925"/>
            <a:ext cx="47625" cy="1409700"/>
          </a:xfrm>
          <a:prstGeom xmlns:a="http://schemas.openxmlformats.org/drawingml/2006/main" prst="roundRect">
            <a:avLst>
              <a:gd name="adj" fmla="val 50000"/>
            </a:avLst>
          </a:prstGeom>
          <a:solidFill xmlns:a="http://schemas.openxmlformats.org/drawingml/2006/main">
            <a:srgbClr val="647BC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0DE9C0-71FF-4E42-B795-4A06B0F6FC6F}"/>
              </a:ext>
            </a:extLst>
          </p:cNvPr>
          <p:cNvSpPr>
            <a:spLocks xmlns:a="http://schemas.openxmlformats.org/drawingml/2006/main" noGrp="1"/>
          </p:cNvSpPr>
          <p:nvPr/>
        </p:nvSpPr>
        <p:spPr>
          <a:xfrm xmlns:a="http://schemas.openxmlformats.org/drawingml/2006/main">
            <a:off x="4333875" y="14478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TEXT COVERAGE</a:t>
            </a:r>
          </a:p>
        </p:txBody>
      </p:sp>
      <p:sp>
        <p:nvSpPr>
          <p:cNvPr id="13" name="">
            <a:extLst xmlns:a="http://schemas.openxmlformats.org/drawingml/2006/main">
              <a:ext uri="{FF2B5EF4-FFF2-40B4-BE49-F238E27FC236}">
                <a16:creationId xmlns:a16="http://schemas.microsoft.com/office/drawing/2014/main" id="{8C4762D1-A1F5-4E85-B4EF-2577B09CEBE3}"/>
              </a:ext>
            </a:extLst>
          </p:cNvPr>
          <p:cNvSpPr>
            <a:spLocks xmlns:a="http://schemas.openxmlformats.org/drawingml/2006/main" noGrp="1"/>
          </p:cNvSpPr>
          <p:nvPr/>
        </p:nvSpPr>
        <p:spPr>
          <a:xfrm xmlns:a="http://schemas.openxmlformats.org/drawingml/2006/main">
            <a:off x="4333875" y="17716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18 / 44 = 40.9% after update</a:t>
            </a:r>
          </a:p>
          <a:p xmlns:a="http://schemas.openxmlformats.org/drawingml/2006/main">
            <a:pPr>
              <a:defRPr sz="975" b="0">
                <a:solidFill>
                  <a:srgbClr val="647285"/>
                </a:solidFill>
              </a:defRPr>
            </a:pPr>
            <a:r>
              <a:rPr sz="975" b="0">
                <a:solidFill>
                  <a:srgbClr val="647285"/>
                </a:solidFill>
              </a:rPr>
              <a:t>17 / 44 = 38.6% initially</a:t>
            </a:r>
          </a:p>
          <a:p xmlns:a="http://schemas.openxmlformats.org/drawingml/2006/main">
            <a:pPr>
              <a:defRPr sz="975" b="0">
                <a:solidFill>
                  <a:srgbClr val="647285"/>
                </a:solidFill>
              </a:defRPr>
            </a:pPr>
            <a:r>
              <a:rPr sz="975" b="0">
                <a:solidFill>
                  <a:srgbClr val="647285"/>
                </a:solidFill>
              </a:rPr>
              <a:t>Missing text stays visible as intake.</a:t>
            </a:r>
          </a:p>
        </p:txBody>
      </p:sp>
      <p:sp>
        <p:nvSpPr>
          <p:cNvPr id="14" name="">
            <a:extLst xmlns:a="http://schemas.openxmlformats.org/drawingml/2006/main">
              <a:ext uri="{FF2B5EF4-FFF2-40B4-BE49-F238E27FC236}">
                <a16:creationId xmlns:a16="http://schemas.microsoft.com/office/drawing/2014/main" id="{8D972734-5BE7-42B2-B3FD-66A84E37009D}"/>
              </a:ext>
            </a:extLst>
          </p:cNvPr>
          <p:cNvSpPr>
            <a:spLocks xmlns:a="http://schemas.openxmlformats.org/drawingml/2006/main" noGrp="1"/>
          </p:cNvSpPr>
          <p:nvPr/>
        </p:nvSpPr>
        <p:spPr>
          <a:xfrm xmlns:a="http://schemas.openxmlformats.org/drawingml/2006/main">
            <a:off x="7677150" y="1304925"/>
            <a:ext cx="3905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9525">
            <a:solidFill>
              <a:srgbClr val="E1E7EB"/>
            </a:solidFill>
            <a:prstDash val="solid"/>
          </a:ln>
        </p:spPr>
      </p:sp>
      <p:sp>
        <p:nvSpPr>
          <p:cNvPr id="15" name="">
            <a:extLst xmlns:a="http://schemas.openxmlformats.org/drawingml/2006/main">
              <a:ext uri="{FF2B5EF4-FFF2-40B4-BE49-F238E27FC236}">
                <a16:creationId xmlns:a16="http://schemas.microsoft.com/office/drawing/2014/main" id="{84D1A165-2EAE-41FF-81D3-9944DF2FA7EF}"/>
              </a:ext>
            </a:extLst>
          </p:cNvPr>
          <p:cNvSpPr>
            <a:spLocks xmlns:a="http://schemas.openxmlformats.org/drawingml/2006/main" noGrp="1"/>
          </p:cNvSpPr>
          <p:nvPr/>
        </p:nvSpPr>
        <p:spPr>
          <a:xfrm xmlns:a="http://schemas.openxmlformats.org/drawingml/2006/main">
            <a:off x="7677150" y="1304925"/>
            <a:ext cx="47625" cy="1409700"/>
          </a:xfrm>
          <a:prstGeom xmlns:a="http://schemas.openxmlformats.org/drawingml/2006/main" prst="roundRect">
            <a:avLst>
              <a:gd name="adj" fmla="val 50000"/>
            </a:avLst>
          </a:prstGeom>
          <a:solidFill xmlns:a="http://schemas.openxmlformats.org/drawingml/2006/main">
            <a:srgbClr val="CA686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BF17CF-AFF3-419B-826A-36A61305FAE7}"/>
              </a:ext>
            </a:extLst>
          </p:cNvPr>
          <p:cNvSpPr>
            <a:spLocks xmlns:a="http://schemas.openxmlformats.org/drawingml/2006/main" noGrp="1"/>
          </p:cNvSpPr>
          <p:nvPr/>
        </p:nvSpPr>
        <p:spPr>
          <a:xfrm xmlns:a="http://schemas.openxmlformats.org/drawingml/2006/main">
            <a:off x="7867650" y="1447800"/>
            <a:ext cx="3524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REVIEW PRIORITY</a:t>
            </a:r>
          </a:p>
        </p:txBody>
      </p:sp>
      <p:sp>
        <p:nvSpPr>
          <p:cNvPr id="17" name="">
            <a:extLst xmlns:a="http://schemas.openxmlformats.org/drawingml/2006/main">
              <a:ext uri="{FF2B5EF4-FFF2-40B4-BE49-F238E27FC236}">
                <a16:creationId xmlns:a16="http://schemas.microsoft.com/office/drawing/2014/main" id="{1A5624B5-C7E1-402E-BE8D-BDEA18E2B14E}"/>
              </a:ext>
            </a:extLst>
          </p:cNvPr>
          <p:cNvSpPr>
            <a:spLocks xmlns:a="http://schemas.openxmlformats.org/drawingml/2006/main" noGrp="1"/>
          </p:cNvSpPr>
          <p:nvPr/>
        </p:nvSpPr>
        <p:spPr>
          <a:xfrm xmlns:a="http://schemas.openxmlformats.org/drawingml/2006/main">
            <a:off x="7867650" y="1771650"/>
            <a:ext cx="3524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M07: multiple reported product issues</a:t>
            </a:r>
          </a:p>
          <a:p xmlns:a="http://schemas.openxmlformats.org/drawingml/2006/main">
            <a:pPr>
              <a:defRPr sz="975" b="0">
                <a:solidFill>
                  <a:srgbClr val="647285"/>
                </a:solidFill>
              </a:defRPr>
            </a:pPr>
            <a:r>
              <a:rPr sz="975" b="0">
                <a:solidFill>
                  <a:srgbClr val="647285"/>
                </a:solidFill>
              </a:rPr>
              <a:t>M06: one old unpaid exception</a:t>
            </a:r>
          </a:p>
          <a:p xmlns:a="http://schemas.openxmlformats.org/drawingml/2006/main">
            <a:pPr>
              <a:defRPr sz="975" b="0">
                <a:solidFill>
                  <a:srgbClr val="647285"/>
                </a:solidFill>
              </a:defRPr>
            </a:pPr>
            <a:r>
              <a:rPr sz="975" b="0">
                <a:solidFill>
                  <a:srgbClr val="647285"/>
                </a:solidFill>
              </a:rPr>
              <a:t>M09: fresh invite still expired</a:t>
            </a:r>
          </a:p>
        </p:txBody>
      </p:sp>
      <p:sp>
        <p:nvSpPr>
          <p:cNvPr id="18" name="">
            <a:extLst xmlns:a="http://schemas.openxmlformats.org/drawingml/2006/main">
              <a:ext uri="{FF2B5EF4-FFF2-40B4-BE49-F238E27FC236}">
                <a16:creationId xmlns:a16="http://schemas.microsoft.com/office/drawing/2014/main" id="{7A38F0BA-4A61-449D-9AD7-BA246D9D98EE}"/>
              </a:ext>
            </a:extLst>
          </p:cNvPr>
          <p:cNvSpPr>
            <a:spLocks xmlns:a="http://schemas.openxmlformats.org/drawingml/2006/main" noGrp="1"/>
          </p:cNvSpPr>
          <p:nvPr/>
        </p:nvSpPr>
        <p:spPr>
          <a:xfrm xmlns:a="http://schemas.openxmlformats.org/drawingml/2006/main">
            <a:off x="609600" y="3086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THREE FINDINGS THAT SHAPED THE PRODUCT</a:t>
            </a:r>
          </a:p>
        </p:txBody>
      </p:sp>
      <p:sp>
        <p:nvSpPr>
          <p:cNvPr id="19" name="">
            <a:extLst xmlns:a="http://schemas.openxmlformats.org/drawingml/2006/main">
              <a:ext uri="{FF2B5EF4-FFF2-40B4-BE49-F238E27FC236}">
                <a16:creationId xmlns:a16="http://schemas.microsoft.com/office/drawing/2014/main" id="{4254F7AF-23AF-4474-A974-3E1615817C15}"/>
              </a:ext>
            </a:extLst>
          </p:cNvPr>
          <p:cNvSpPr>
            <a:spLocks xmlns:a="http://schemas.openxmlformats.org/drawingml/2006/main" noGrp="1"/>
          </p:cNvSpPr>
          <p:nvPr/>
        </p:nvSpPr>
        <p:spPr>
          <a:xfrm xmlns:a="http://schemas.openxmlformats.org/drawingml/2006/main">
            <a:off x="609600" y="3419475"/>
            <a:ext cx="34290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E1E7EB"/>
            </a:solidFill>
            <a:prstDash val="solid"/>
          </a:ln>
        </p:spPr>
      </p:sp>
      <p:sp>
        <p:nvSpPr>
          <p:cNvPr id="20" name="">
            <a:extLst xmlns:a="http://schemas.openxmlformats.org/drawingml/2006/main">
              <a:ext uri="{FF2B5EF4-FFF2-40B4-BE49-F238E27FC236}">
                <a16:creationId xmlns:a16="http://schemas.microsoft.com/office/drawing/2014/main" id="{DDC316C6-8C4F-4F1A-A62E-328D4067018F}"/>
              </a:ext>
            </a:extLst>
          </p:cNvPr>
          <p:cNvSpPr>
            <a:spLocks xmlns:a="http://schemas.openxmlformats.org/drawingml/2006/main" noGrp="1"/>
          </p:cNvSpPr>
          <p:nvPr/>
        </p:nvSpPr>
        <p:spPr>
          <a:xfrm xmlns:a="http://schemas.openxmlformats.org/drawingml/2006/main">
            <a:off x="609600" y="3419475"/>
            <a:ext cx="47625" cy="2162175"/>
          </a:xfrm>
          <a:prstGeom xmlns:a="http://schemas.openxmlformats.org/drawingml/2006/main" prst="roundRect">
            <a:avLst>
              <a:gd name="adj" fmla="val 50000"/>
            </a:avLst>
          </a:prstGeom>
          <a:solidFill xmlns:a="http://schemas.openxmlformats.org/drawingml/2006/main">
            <a:srgbClr val="0D9B8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EDE65BE-F218-4BBF-A694-50A92519E9F9}"/>
              </a:ext>
            </a:extLst>
          </p:cNvPr>
          <p:cNvSpPr>
            <a:spLocks xmlns:a="http://schemas.openxmlformats.org/drawingml/2006/main" noGrp="1"/>
          </p:cNvSpPr>
          <p:nvPr/>
        </p:nvSpPr>
        <p:spPr>
          <a:xfrm xmlns:a="http://schemas.openxmlformats.org/drawingml/2006/main">
            <a:off x="800100" y="3562350"/>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01  PARTNER PATH</a:t>
            </a:r>
          </a:p>
        </p:txBody>
      </p:sp>
      <p:sp>
        <p:nvSpPr>
          <p:cNvPr id="22" name="">
            <a:extLst xmlns:a="http://schemas.openxmlformats.org/drawingml/2006/main">
              <a:ext uri="{FF2B5EF4-FFF2-40B4-BE49-F238E27FC236}">
                <a16:creationId xmlns:a16="http://schemas.microsoft.com/office/drawing/2014/main" id="{3F1B719B-FA07-484C-B242-B39EF7AD1295}"/>
              </a:ext>
            </a:extLst>
          </p:cNvPr>
          <p:cNvSpPr>
            <a:spLocks xmlns:a="http://schemas.openxmlformats.org/drawingml/2006/main" noGrp="1"/>
          </p:cNvSpPr>
          <p:nvPr/>
        </p:nvSpPr>
        <p:spPr>
          <a:xfrm xmlns:a="http://schemas.openxmlformats.org/drawingml/2006/main">
            <a:off x="800100" y="3886200"/>
            <a:ext cx="3048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M01 · turn 21</a:t>
            </a:r>
          </a:p>
          <a:p xmlns:a="http://schemas.openxmlformats.org/drawingml/2006/main">
            <a:pPr>
              <a:defRPr sz="975" b="0">
                <a:solidFill>
                  <a:srgbClr val="647285"/>
                </a:solidFill>
              </a:defRPr>
            </a:pPr>
            <a:r>
              <a:rPr sz="975" b="0">
                <a:solidFill>
                  <a:srgbClr val="647285"/>
                </a:solidFill>
              </a:rPr>
              <a:t>The partner accepted a unique referral link after rejecting manual email introductions as hard to scale.</a:t>
            </a:r>
          </a:p>
          <a:p xmlns:a="http://schemas.openxmlformats.org/drawingml/2006/main">
            <a:r>
              <a:t/>
            </a:r>
          </a:p>
          <a:p xmlns:a="http://schemas.openxmlformats.org/drawingml/2006/main">
            <a:pPr>
              <a:defRPr sz="975" b="0">
                <a:solidFill>
                  <a:srgbClr val="647285"/>
                </a:solidFill>
              </a:defRPr>
            </a:pPr>
            <a:r>
              <a:rPr sz="975" b="0">
                <a:solidFill>
                  <a:srgbClr val="647285"/>
                </a:solidFill>
              </a:rPr>
              <a:t>Product effect: Manager brief prioritises written terms, referral link and eligibility checklist.</a:t>
            </a:r>
          </a:p>
        </p:txBody>
      </p:sp>
      <p:sp>
        <p:nvSpPr>
          <p:cNvPr id="23" name="">
            <a:extLst xmlns:a="http://schemas.openxmlformats.org/drawingml/2006/main">
              <a:ext uri="{FF2B5EF4-FFF2-40B4-BE49-F238E27FC236}">
                <a16:creationId xmlns:a16="http://schemas.microsoft.com/office/drawing/2014/main" id="{568D6B78-AB4D-44C5-B3B1-16C9BDB88C62}"/>
              </a:ext>
            </a:extLst>
          </p:cNvPr>
          <p:cNvSpPr>
            <a:spLocks xmlns:a="http://schemas.openxmlformats.org/drawingml/2006/main" noGrp="1"/>
          </p:cNvSpPr>
          <p:nvPr/>
        </p:nvSpPr>
        <p:spPr>
          <a:xfrm xmlns:a="http://schemas.openxmlformats.org/drawingml/2006/main">
            <a:off x="4257675" y="3419475"/>
            <a:ext cx="34290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E1E7EB"/>
            </a:solidFill>
            <a:prstDash val="solid"/>
          </a:ln>
        </p:spPr>
      </p:sp>
      <p:sp>
        <p:nvSpPr>
          <p:cNvPr id="24" name="">
            <a:extLst xmlns:a="http://schemas.openxmlformats.org/drawingml/2006/main">
              <a:ext uri="{FF2B5EF4-FFF2-40B4-BE49-F238E27FC236}">
                <a16:creationId xmlns:a16="http://schemas.microsoft.com/office/drawing/2014/main" id="{4FEEB3A9-A82A-418A-8EB0-9A0171A23107}"/>
              </a:ext>
            </a:extLst>
          </p:cNvPr>
          <p:cNvSpPr>
            <a:spLocks xmlns:a="http://schemas.openxmlformats.org/drawingml/2006/main" noGrp="1"/>
          </p:cNvSpPr>
          <p:nvPr/>
        </p:nvSpPr>
        <p:spPr>
          <a:xfrm xmlns:a="http://schemas.openxmlformats.org/drawingml/2006/main">
            <a:off x="4257675" y="3419475"/>
            <a:ext cx="47625" cy="2162175"/>
          </a:xfrm>
          <a:prstGeom xmlns:a="http://schemas.openxmlformats.org/drawingml/2006/main" prst="roundRect">
            <a:avLst>
              <a:gd name="adj" fmla="val 50000"/>
            </a:avLst>
          </a:prstGeom>
          <a:solidFill xmlns:a="http://schemas.openxmlformats.org/drawingml/2006/main">
            <a:srgbClr val="F2B64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CD79665-D6DA-4234-84EC-DAABEA846C7C}"/>
              </a:ext>
            </a:extLst>
          </p:cNvPr>
          <p:cNvSpPr>
            <a:spLocks xmlns:a="http://schemas.openxmlformats.org/drawingml/2006/main" noGrp="1"/>
          </p:cNvSpPr>
          <p:nvPr/>
        </p:nvSpPr>
        <p:spPr>
          <a:xfrm xmlns:a="http://schemas.openxmlformats.org/drawingml/2006/main">
            <a:off x="4448175" y="3562350"/>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02  COLLECTION EXCEPTION</a:t>
            </a:r>
          </a:p>
        </p:txBody>
      </p:sp>
      <p:sp>
        <p:nvSpPr>
          <p:cNvPr id="26" name="">
            <a:extLst xmlns:a="http://schemas.openxmlformats.org/drawingml/2006/main">
              <a:ext uri="{FF2B5EF4-FFF2-40B4-BE49-F238E27FC236}">
                <a16:creationId xmlns:a16="http://schemas.microsoft.com/office/drawing/2014/main" id="{87E3D3E0-6DF3-4B33-B328-669775A6669F}"/>
              </a:ext>
            </a:extLst>
          </p:cNvPr>
          <p:cNvSpPr>
            <a:spLocks xmlns:a="http://schemas.openxmlformats.org/drawingml/2006/main" noGrp="1"/>
          </p:cNvSpPr>
          <p:nvPr/>
        </p:nvSpPr>
        <p:spPr>
          <a:xfrm xmlns:a="http://schemas.openxmlformats.org/drawingml/2006/main">
            <a:off x="4448175" y="3886200"/>
            <a:ext cx="304800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M06 · turn 10</a:t>
            </a:r>
          </a:p>
          <a:p xmlns:a="http://schemas.openxmlformats.org/drawingml/2006/main">
            <a:pPr>
              <a:defRPr sz="975" b="0">
                <a:solidFill>
                  <a:srgbClr val="647285"/>
                </a:solidFill>
              </a:defRPr>
            </a:pPr>
            <a:r>
              <a:rPr sz="975" b="0">
                <a:solidFill>
                  <a:srgbClr val="647285"/>
                </a:solidFill>
              </a:rPr>
              <a:t>One expense-recovery invoice had been unpaid for months; the reason was still unknown.</a:t>
            </a:r>
          </a:p>
          <a:p xmlns:a="http://schemas.openxmlformats.org/drawingml/2006/main">
            <a:r>
              <a:t/>
            </a:r>
          </a:p>
          <a:p xmlns:a="http://schemas.openxmlformats.org/drawingml/2006/main">
            <a:pPr>
              <a:defRPr sz="975" b="0">
                <a:solidFill>
                  <a:srgbClr val="647285"/>
                </a:solidFill>
              </a:defRPr>
            </a:pPr>
            <a:r>
              <a:rPr sz="975" b="0">
                <a:solidFill>
                  <a:srgbClr val="647285"/>
                </a:solidFill>
              </a:rPr>
              <a:t>Product effect: surfaced as an unresolved customer issue, not a confirmed product fit or fixed problem.</a:t>
            </a:r>
          </a:p>
        </p:txBody>
      </p:sp>
      <p:sp>
        <p:nvSpPr>
          <p:cNvPr id="27" name="">
            <a:extLst xmlns:a="http://schemas.openxmlformats.org/drawingml/2006/main">
              <a:ext uri="{FF2B5EF4-FFF2-40B4-BE49-F238E27FC236}">
                <a16:creationId xmlns:a16="http://schemas.microsoft.com/office/drawing/2014/main" id="{EA118A4D-75E6-4AB1-A2EC-64486C34CA12}"/>
              </a:ext>
            </a:extLst>
          </p:cNvPr>
          <p:cNvSpPr>
            <a:spLocks xmlns:a="http://schemas.openxmlformats.org/drawingml/2006/main" noGrp="1"/>
          </p:cNvSpPr>
          <p:nvPr/>
        </p:nvSpPr>
        <p:spPr>
          <a:xfrm xmlns:a="http://schemas.openxmlformats.org/drawingml/2006/main">
            <a:off x="7905750" y="3419475"/>
            <a:ext cx="367665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E1E7EB"/>
            </a:solidFill>
            <a:prstDash val="solid"/>
          </a:ln>
        </p:spPr>
      </p:sp>
      <p:sp>
        <p:nvSpPr>
          <p:cNvPr id="28" name="">
            <a:extLst xmlns:a="http://schemas.openxmlformats.org/drawingml/2006/main">
              <a:ext uri="{FF2B5EF4-FFF2-40B4-BE49-F238E27FC236}">
                <a16:creationId xmlns:a16="http://schemas.microsoft.com/office/drawing/2014/main" id="{C3F05860-AE8B-473E-BE20-6FC500C89C06}"/>
              </a:ext>
            </a:extLst>
          </p:cNvPr>
          <p:cNvSpPr>
            <a:spLocks xmlns:a="http://schemas.openxmlformats.org/drawingml/2006/main" noGrp="1"/>
          </p:cNvSpPr>
          <p:nvPr/>
        </p:nvSpPr>
        <p:spPr>
          <a:xfrm xmlns:a="http://schemas.openxmlformats.org/drawingml/2006/main">
            <a:off x="7905750" y="3419475"/>
            <a:ext cx="47625" cy="2162175"/>
          </a:xfrm>
          <a:prstGeom xmlns:a="http://schemas.openxmlformats.org/drawingml/2006/main" prst="roundRect">
            <a:avLst>
              <a:gd name="adj" fmla="val 50000"/>
            </a:avLst>
          </a:prstGeom>
          <a:solidFill xmlns:a="http://schemas.openxmlformats.org/drawingml/2006/main">
            <a:srgbClr val="CA686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4A5FB60-E0CE-4405-B547-1706292D397A}"/>
              </a:ext>
            </a:extLst>
          </p:cNvPr>
          <p:cNvSpPr>
            <a:spLocks xmlns:a="http://schemas.openxmlformats.org/drawingml/2006/main" noGrp="1"/>
          </p:cNvSpPr>
          <p:nvPr/>
        </p:nvSpPr>
        <p:spPr>
          <a:xfrm xmlns:a="http://schemas.openxmlformats.org/drawingml/2006/main">
            <a:off x="8096250" y="3562350"/>
            <a:ext cx="3295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03  WORKAROUND ≠ FIX</a:t>
            </a:r>
          </a:p>
        </p:txBody>
      </p:sp>
      <p:sp>
        <p:nvSpPr>
          <p:cNvPr id="30" name="">
            <a:extLst xmlns:a="http://schemas.openxmlformats.org/drawingml/2006/main">
              <a:ext uri="{FF2B5EF4-FFF2-40B4-BE49-F238E27FC236}">
                <a16:creationId xmlns:a16="http://schemas.microsoft.com/office/drawing/2014/main" id="{A2255E9F-5F57-4BF8-A424-0E937EE8FC43}"/>
              </a:ext>
            </a:extLst>
          </p:cNvPr>
          <p:cNvSpPr>
            <a:spLocks xmlns:a="http://schemas.openxmlformats.org/drawingml/2006/main" noGrp="1"/>
          </p:cNvSpPr>
          <p:nvPr/>
        </p:nvSpPr>
        <p:spPr>
          <a:xfrm xmlns:a="http://schemas.openxmlformats.org/drawingml/2006/main">
            <a:off x="8096250" y="3886200"/>
            <a:ext cx="329565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M07 · turn 15</a:t>
            </a:r>
          </a:p>
          <a:p xmlns:a="http://schemas.openxmlformats.org/drawingml/2006/main">
            <a:pPr>
              <a:defRPr sz="975" b="0">
                <a:solidFill>
                  <a:srgbClr val="647285"/>
                </a:solidFill>
              </a:defRPr>
            </a:pPr>
            <a:r>
              <a:rPr sz="975" b="0">
                <a:solidFill>
                  <a:srgbClr val="647285"/>
                </a:solidFill>
              </a:rPr>
              <a:t>The alternate upload path worked, but added steps. The direct path still needed investigation.</a:t>
            </a:r>
          </a:p>
          <a:p xmlns:a="http://schemas.openxmlformats.org/drawingml/2006/main">
            <a:r>
              <a:t/>
            </a:r>
          </a:p>
          <a:p xmlns:a="http://schemas.openxmlformats.org/drawingml/2006/main">
            <a:pPr>
              <a:defRPr sz="975" b="0">
                <a:solidFill>
                  <a:srgbClr val="647285"/>
                </a:solidFill>
              </a:defRPr>
            </a:pPr>
            <a:r>
              <a:rPr sz="975" b="0">
                <a:solidFill>
                  <a:srgbClr val="647285"/>
                </a:solidFill>
              </a:rPr>
              <a:t>Product effect: detail view keeps workaround and unresolved defect distinct.</a:t>
            </a:r>
          </a:p>
        </p:txBody>
      </p:sp>
      <p:sp>
        <p:nvSpPr>
          <p:cNvPr id="31" name="">
            <a:extLst xmlns:a="http://schemas.openxmlformats.org/drawingml/2006/main">
              <a:ext uri="{FF2B5EF4-FFF2-40B4-BE49-F238E27FC236}">
                <a16:creationId xmlns:a16="http://schemas.microsoft.com/office/drawing/2014/main" id="{E0AE18B3-B7B2-4FEB-B59E-740F35DD85A1}"/>
              </a:ext>
            </a:extLst>
          </p:cNvPr>
          <p:cNvSpPr>
            <a:spLocks xmlns:a="http://schemas.openxmlformats.org/drawingml/2006/main" noGrp="1"/>
          </p:cNvSpPr>
          <p:nvPr/>
        </p:nvSpPr>
        <p:spPr>
          <a:xfrm xmlns:a="http://schemas.openxmlformats.org/drawingml/2006/main">
            <a:off x="609600" y="58197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No pipeline value, win rate, or account relationship is inferred from conversation text.</a:t>
            </a:r>
          </a:p>
        </p:txBody>
      </p:sp>
    </p:spTree>
    <p:extLst>
      <p:ext uri="{BB962C8B-B14F-4D97-AF65-F5344CB8AC3E}">
        <p14:creationId xmlns:p14="http://schemas.microsoft.com/office/powerpoint/2010/main" val="105688834"/>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E4C3B0-FB7D-4C57-B9FA-73CD507614B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D9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0D2F34-3663-4EAB-A897-559673275BC6}"/>
              </a:ext>
            </a:extLst>
          </p:cNvPr>
          <p:cNvSpPr>
            <a:spLocks xmlns:a="http://schemas.openxmlformats.org/drawingml/2006/main" noGrp="1"/>
          </p:cNvSpPr>
          <p:nvPr/>
        </p:nvSpPr>
        <p:spPr>
          <a:xfrm xmlns:a="http://schemas.openxmlformats.org/drawingml/2006/main">
            <a:off x="609600" y="3238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02  /  INTERFACE CHOICES</a:t>
            </a:r>
          </a:p>
        </p:txBody>
      </p:sp>
      <p:sp>
        <p:nvSpPr>
          <p:cNvPr id="3" name="">
            <a:extLst xmlns:a="http://schemas.openxmlformats.org/drawingml/2006/main">
              <a:ext uri="{FF2B5EF4-FFF2-40B4-BE49-F238E27FC236}">
                <a16:creationId xmlns:a16="http://schemas.microsoft.com/office/drawing/2014/main" id="{C42C72F9-9D70-4CFE-B072-BF030F1217F4}"/>
              </a:ext>
            </a:extLst>
          </p:cNvPr>
          <p:cNvSpPr>
            <a:spLocks xmlns:a="http://schemas.openxmlformats.org/drawingml/2006/main" noGrp="1"/>
          </p:cNvSpPr>
          <p:nvPr/>
        </p:nvSpPr>
        <p:spPr>
          <a:xfrm xmlns:a="http://schemas.openxmlformats.org/drawingml/2006/main">
            <a:off x="609600" y="60007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92535"/>
                </a:solidFill>
              </a:defRPr>
            </a:defPPr>
            <a:lvl1pPr>
              <a:defRPr sz="2400" b="1">
                <a:solidFill>
                  <a:srgbClr val="192535"/>
                </a:solidFill>
              </a:defRPr>
            </a:lvl1pPr>
            <a:lvl2pPr>
              <a:defRPr sz="2400" b="1">
                <a:solidFill>
                  <a:srgbClr val="192535"/>
                </a:solidFill>
              </a:defRPr>
            </a:lvl2pPr>
            <a:lvl3pPr>
              <a:defRPr sz="2400" b="1">
                <a:solidFill>
                  <a:srgbClr val="192535"/>
                </a:solidFill>
              </a:defRPr>
            </a:lvl3pPr>
            <a:lvl4pPr>
              <a:defRPr sz="2400" b="1">
                <a:solidFill>
                  <a:srgbClr val="192535"/>
                </a:solidFill>
              </a:defRPr>
            </a:lvl4pPr>
            <a:lvl5pPr>
              <a:defRPr sz="2400" b="1">
                <a:solidFill>
                  <a:srgbClr val="192535"/>
                </a:solidFill>
              </a:defRPr>
            </a:lvl5pPr>
            <a:lvl6pPr>
              <a:defRPr sz="2400" b="1">
                <a:solidFill>
                  <a:srgbClr val="192535"/>
                </a:solidFill>
              </a:defRPr>
            </a:lvl6pPr>
            <a:lvl7pPr>
              <a:defRPr sz="2400" b="1">
                <a:solidFill>
                  <a:srgbClr val="192535"/>
                </a:solidFill>
              </a:defRPr>
            </a:lvl7pPr>
            <a:lvl8pPr>
              <a:defRPr sz="2400" b="1">
                <a:solidFill>
                  <a:srgbClr val="192535"/>
                </a:solidFill>
              </a:defRPr>
            </a:lvl8pPr>
            <a:lvl9pPr>
              <a:defRPr sz="2400" b="1">
                <a:solidFill>
                  <a:srgbClr val="192535"/>
                </a:solidFill>
              </a:defRPr>
            </a:lvl9pPr>
          </a:lstStyle>
          <a:p xmlns:a="http://schemas.openxmlformats.org/drawingml/2006/main">
            <a:pPr>
              <a:defRPr sz="2400" b="1">
                <a:solidFill>
                  <a:srgbClr val="192535"/>
                </a:solidFill>
              </a:defRPr>
            </a:pPr>
            <a:r>
              <a:rPr sz="2400" b="1">
                <a:solidFill>
                  <a:srgbClr val="192535"/>
                </a:solidFill>
              </a:rPr>
              <a:t>A compact workspace for triage, evidence, and correction</a:t>
            </a:r>
          </a:p>
        </p:txBody>
      </p:sp>
      <p:sp>
        <p:nvSpPr>
          <p:cNvPr id="4" name="">
            <a:extLst xmlns:a="http://schemas.openxmlformats.org/drawingml/2006/main">
              <a:ext uri="{FF2B5EF4-FFF2-40B4-BE49-F238E27FC236}">
                <a16:creationId xmlns:a16="http://schemas.microsoft.com/office/drawing/2014/main" id="{C9F1D59A-C740-4C9B-89AA-7FF5AE42F9FE}"/>
              </a:ext>
            </a:extLst>
          </p:cNvPr>
          <p:cNvSpPr>
            <a:spLocks xmlns:a="http://schemas.openxmlformats.org/drawingml/2006/main" noGrp="1"/>
          </p:cNvSpPr>
          <p:nvPr/>
        </p:nvSpPr>
        <p:spPr>
          <a:xfrm xmlns:a="http://schemas.openxmlformats.org/drawingml/2006/main">
            <a:off x="609600" y="6457950"/>
            <a:ext cx="762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SIGNAL  /  REVENUE INTELLIGENCE INBOX  /  PRIVATE ASSESSMENT SAMPLE</a:t>
            </a:r>
          </a:p>
        </p:txBody>
      </p:sp>
      <p:sp>
        <p:nvSpPr>
          <p:cNvPr id="5" name="">
            <a:extLst xmlns:a="http://schemas.openxmlformats.org/drawingml/2006/main">
              <a:ext uri="{FF2B5EF4-FFF2-40B4-BE49-F238E27FC236}">
                <a16:creationId xmlns:a16="http://schemas.microsoft.com/office/drawing/2014/main" id="{2643163F-15F6-483A-A082-A7AB20A6D000}"/>
              </a:ext>
            </a:extLst>
          </p:cNvPr>
          <p:cNvSpPr>
            <a:spLocks xmlns:a="http://schemas.openxmlformats.org/drawingml/2006/main" noGrp="1"/>
          </p:cNvSpPr>
          <p:nvPr/>
        </p:nvSpPr>
        <p:spPr>
          <a:xfrm xmlns:a="http://schemas.openxmlformats.org/drawingml/2006/main">
            <a:off x="11258550" y="64579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03</a:t>
            </a:r>
          </a:p>
        </p:txBody>
      </p:sp>
      <p:sp>
        <p:nvSpPr>
          <p:cNvPr id="6" name="">
            <a:extLst xmlns:a="http://schemas.openxmlformats.org/drawingml/2006/main">
              <a:ext uri="{FF2B5EF4-FFF2-40B4-BE49-F238E27FC236}">
                <a16:creationId xmlns:a16="http://schemas.microsoft.com/office/drawing/2014/main" id="{B720867B-1360-4FF1-AE08-1D975B0D1867}"/>
              </a:ext>
            </a:extLst>
          </p:cNvPr>
          <p:cNvSpPr>
            <a:spLocks xmlns:a="http://schemas.openxmlformats.org/drawingml/2006/main" noGrp="1"/>
          </p:cNvSpPr>
          <p:nvPr/>
        </p:nvSpPr>
        <p:spPr>
          <a:xfrm xmlns:a="http://schemas.openxmlformats.org/drawingml/2006/main">
            <a:off x="609600" y="1381125"/>
            <a:ext cx="5286375"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1E7EB"/>
            </a:solidFill>
            <a:prstDash val="solid"/>
          </a:ln>
        </p:spPr>
      </p:sp>
      <p:sp>
        <p:nvSpPr>
          <p:cNvPr id="7" name="">
            <a:extLst xmlns:a="http://schemas.openxmlformats.org/drawingml/2006/main">
              <a:ext uri="{FF2B5EF4-FFF2-40B4-BE49-F238E27FC236}">
                <a16:creationId xmlns:a16="http://schemas.microsoft.com/office/drawing/2014/main" id="{8CFB39A0-9A8D-4500-BF15-1374660F474F}"/>
              </a:ext>
            </a:extLst>
          </p:cNvPr>
          <p:cNvSpPr>
            <a:spLocks xmlns:a="http://schemas.openxmlformats.org/drawingml/2006/main" noGrp="1"/>
          </p:cNvSpPr>
          <p:nvPr/>
        </p:nvSpPr>
        <p:spPr>
          <a:xfrm xmlns:a="http://schemas.openxmlformats.org/drawingml/2006/main">
            <a:off x="609600" y="1381125"/>
            <a:ext cx="47625" cy="1828800"/>
          </a:xfrm>
          <a:prstGeom xmlns:a="http://schemas.openxmlformats.org/drawingml/2006/main" prst="roundRect">
            <a:avLst>
              <a:gd name="adj" fmla="val 50000"/>
            </a:avLst>
          </a:prstGeom>
          <a:solidFill xmlns:a="http://schemas.openxmlformats.org/drawingml/2006/main">
            <a:srgbClr val="0D9B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0554AD-A68E-4F06-89C9-7F159B369828}"/>
              </a:ext>
            </a:extLst>
          </p:cNvPr>
          <p:cNvSpPr>
            <a:spLocks xmlns:a="http://schemas.openxmlformats.org/drawingml/2006/main" noGrp="1"/>
          </p:cNvSpPr>
          <p:nvPr/>
        </p:nvSpPr>
        <p:spPr>
          <a:xfrm xmlns:a="http://schemas.openxmlformats.org/drawingml/2006/main">
            <a:off x="800100" y="1524000"/>
            <a:ext cx="490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OVERVIEW</a:t>
            </a:r>
          </a:p>
        </p:txBody>
      </p:sp>
      <p:sp>
        <p:nvSpPr>
          <p:cNvPr id="9" name="">
            <a:extLst xmlns:a="http://schemas.openxmlformats.org/drawingml/2006/main">
              <a:ext uri="{FF2B5EF4-FFF2-40B4-BE49-F238E27FC236}">
                <a16:creationId xmlns:a16="http://schemas.microsoft.com/office/drawing/2014/main" id="{20179BD3-1F98-4724-B568-9CF26CB75029}"/>
              </a:ext>
            </a:extLst>
          </p:cNvPr>
          <p:cNvSpPr>
            <a:spLocks xmlns:a="http://schemas.openxmlformats.org/drawingml/2006/main" noGrp="1"/>
          </p:cNvSpPr>
          <p:nvPr/>
        </p:nvSpPr>
        <p:spPr>
          <a:xfrm xmlns:a="http://schemas.openxmlformats.org/drawingml/2006/main">
            <a:off x="800100" y="1847850"/>
            <a:ext cx="490537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Four headline counts define their denominators. Hourly activity uses local start time. Filters cover source type, person, route, and review state. Metric clicks open the matching inbox view.</a:t>
            </a:r>
          </a:p>
          <a:p xmlns:a="http://schemas.openxmlformats.org/drawingml/2006/main">
            <a:r>
              <a:t/>
            </a:r>
          </a:p>
          <a:p xmlns:a="http://schemas.openxmlformats.org/drawingml/2006/main">
            <a:pPr>
              <a:defRPr sz="975" b="0">
                <a:solidFill>
                  <a:srgbClr val="647285"/>
                </a:solidFill>
              </a:defRPr>
            </a:pPr>
            <a:r>
              <a:rPr sz="975" b="0">
                <a:solidFill>
                  <a:srgbClr val="647285"/>
                </a:solidFill>
              </a:rPr>
              <a:t>Call reps and calendar organisers remain separate roles.</a:t>
            </a:r>
          </a:p>
        </p:txBody>
      </p:sp>
      <p:sp>
        <p:nvSpPr>
          <p:cNvPr id="10" name="">
            <a:extLst xmlns:a="http://schemas.openxmlformats.org/drawingml/2006/main">
              <a:ext uri="{FF2B5EF4-FFF2-40B4-BE49-F238E27FC236}">
                <a16:creationId xmlns:a16="http://schemas.microsoft.com/office/drawing/2014/main" id="{577A8926-FAAE-4BAF-951C-F477DBD39CFD}"/>
              </a:ext>
            </a:extLst>
          </p:cNvPr>
          <p:cNvSpPr>
            <a:spLocks xmlns:a="http://schemas.openxmlformats.org/drawingml/2006/main" noGrp="1"/>
          </p:cNvSpPr>
          <p:nvPr/>
        </p:nvSpPr>
        <p:spPr>
          <a:xfrm xmlns:a="http://schemas.openxmlformats.org/drawingml/2006/main">
            <a:off x="6143625" y="1381125"/>
            <a:ext cx="5438775"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E1E7EB"/>
            </a:solidFill>
            <a:prstDash val="solid"/>
          </a:ln>
        </p:spPr>
      </p:sp>
      <p:sp>
        <p:nvSpPr>
          <p:cNvPr id="11" name="">
            <a:extLst xmlns:a="http://schemas.openxmlformats.org/drawingml/2006/main">
              <a:ext uri="{FF2B5EF4-FFF2-40B4-BE49-F238E27FC236}">
                <a16:creationId xmlns:a16="http://schemas.microsoft.com/office/drawing/2014/main" id="{7607A417-FEC9-486C-882E-46C015C155D6}"/>
              </a:ext>
            </a:extLst>
          </p:cNvPr>
          <p:cNvSpPr>
            <a:spLocks xmlns:a="http://schemas.openxmlformats.org/drawingml/2006/main" noGrp="1"/>
          </p:cNvSpPr>
          <p:nvPr/>
        </p:nvSpPr>
        <p:spPr>
          <a:xfrm xmlns:a="http://schemas.openxmlformats.org/drawingml/2006/main">
            <a:off x="6143625" y="1381125"/>
            <a:ext cx="47625" cy="1828800"/>
          </a:xfrm>
          <a:prstGeom xmlns:a="http://schemas.openxmlformats.org/drawingml/2006/main" prst="roundRect">
            <a:avLst>
              <a:gd name="adj" fmla="val 50000"/>
            </a:avLst>
          </a:prstGeom>
          <a:solidFill xmlns:a="http://schemas.openxmlformats.org/drawingml/2006/main">
            <a:srgbClr val="647BC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7D3649-A68A-4DD6-8292-2F030F49CE69}"/>
              </a:ext>
            </a:extLst>
          </p:cNvPr>
          <p:cNvSpPr>
            <a:spLocks xmlns:a="http://schemas.openxmlformats.org/drawingml/2006/main" noGrp="1"/>
          </p:cNvSpPr>
          <p:nvPr/>
        </p:nvSpPr>
        <p:spPr>
          <a:xfrm xmlns:a="http://schemas.openxmlformats.org/drawingml/2006/main">
            <a:off x="6334125" y="1524000"/>
            <a:ext cx="5057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CONVERSATION INBOX</a:t>
            </a:r>
          </a:p>
        </p:txBody>
      </p:sp>
      <p:sp>
        <p:nvSpPr>
          <p:cNvPr id="13" name="">
            <a:extLst xmlns:a="http://schemas.openxmlformats.org/drawingml/2006/main">
              <a:ext uri="{FF2B5EF4-FFF2-40B4-BE49-F238E27FC236}">
                <a16:creationId xmlns:a16="http://schemas.microsoft.com/office/drawing/2014/main" id="{DE624401-6120-418B-9770-D2931E030749}"/>
              </a:ext>
            </a:extLst>
          </p:cNvPr>
          <p:cNvSpPr>
            <a:spLocks xmlns:a="http://schemas.openxmlformats.org/drawingml/2006/main" noGrp="1"/>
          </p:cNvSpPr>
          <p:nvPr/>
        </p:nvSpPr>
        <p:spPr>
          <a:xfrm xmlns:a="http://schemas.openxmlformats.org/drawingml/2006/main">
            <a:off x="6334125" y="1847850"/>
            <a:ext cx="505777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Search, sort, filter, and open all 44 source records. Missing transcripts receive an intake state instead of invented analysis. Each detail view shows raw metadata, supplied text, evidence, uncertainty, next action, owner, and revision.</a:t>
            </a:r>
          </a:p>
        </p:txBody>
      </p:sp>
      <p:sp>
        <p:nvSpPr>
          <p:cNvPr id="14" name="">
            <a:extLst xmlns:a="http://schemas.openxmlformats.org/drawingml/2006/main">
              <a:ext uri="{FF2B5EF4-FFF2-40B4-BE49-F238E27FC236}">
                <a16:creationId xmlns:a16="http://schemas.microsoft.com/office/drawing/2014/main" id="{A42F6B10-17F2-4E6A-B337-16FC3C0B0D6D}"/>
              </a:ext>
            </a:extLst>
          </p:cNvPr>
          <p:cNvSpPr>
            <a:spLocks xmlns:a="http://schemas.openxmlformats.org/drawingml/2006/main" noGrp="1"/>
          </p:cNvSpPr>
          <p:nvPr/>
        </p:nvSpPr>
        <p:spPr>
          <a:xfrm xmlns:a="http://schemas.openxmlformats.org/drawingml/2006/main">
            <a:off x="609600" y="3476625"/>
            <a:ext cx="5286375" cy="1847850"/>
          </a:xfrm>
          <a:prstGeom xmlns:a="http://schemas.openxmlformats.org/drawingml/2006/main" prst="roundRect">
            <a:avLst>
              <a:gd name="adj" fmla="val 6186"/>
            </a:avLst>
          </a:prstGeom>
          <a:solidFill xmlns:a="http://schemas.openxmlformats.org/drawingml/2006/main">
            <a:srgbClr val="FFFFFF"/>
          </a:solidFill>
          <a:ln xmlns:a="http://schemas.openxmlformats.org/drawingml/2006/main" w="9525">
            <a:solidFill>
              <a:srgbClr val="E1E7EB"/>
            </a:solidFill>
            <a:prstDash val="solid"/>
          </a:ln>
        </p:spPr>
      </p:sp>
      <p:sp>
        <p:nvSpPr>
          <p:cNvPr id="15" name="">
            <a:extLst xmlns:a="http://schemas.openxmlformats.org/drawingml/2006/main">
              <a:ext uri="{FF2B5EF4-FFF2-40B4-BE49-F238E27FC236}">
                <a16:creationId xmlns:a16="http://schemas.microsoft.com/office/drawing/2014/main" id="{5849277F-239F-4452-A997-430E4BD42857}"/>
              </a:ext>
            </a:extLst>
          </p:cNvPr>
          <p:cNvSpPr>
            <a:spLocks xmlns:a="http://schemas.openxmlformats.org/drawingml/2006/main" noGrp="1"/>
          </p:cNvSpPr>
          <p:nvPr/>
        </p:nvSpPr>
        <p:spPr>
          <a:xfrm xmlns:a="http://schemas.openxmlformats.org/drawingml/2006/main">
            <a:off x="609600" y="3476625"/>
            <a:ext cx="47625" cy="1847850"/>
          </a:xfrm>
          <a:prstGeom xmlns:a="http://schemas.openxmlformats.org/drawingml/2006/main" prst="roundRect">
            <a:avLst>
              <a:gd name="adj" fmla="val 50000"/>
            </a:avLst>
          </a:prstGeom>
          <a:solidFill xmlns:a="http://schemas.openxmlformats.org/drawingml/2006/main">
            <a:srgbClr val="F2B6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1201E1-AB4B-4EEB-B5C4-502F02DAEBEB}"/>
              </a:ext>
            </a:extLst>
          </p:cNvPr>
          <p:cNvSpPr>
            <a:spLocks xmlns:a="http://schemas.openxmlformats.org/drawingml/2006/main" noGrp="1"/>
          </p:cNvSpPr>
          <p:nvPr/>
        </p:nvSpPr>
        <p:spPr>
          <a:xfrm xmlns:a="http://schemas.openxmlformats.org/drawingml/2006/main">
            <a:off x="800100" y="3619500"/>
            <a:ext cx="490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ROUTING &amp; REVIEW</a:t>
            </a:r>
          </a:p>
        </p:txBody>
      </p:sp>
      <p:sp>
        <p:nvSpPr>
          <p:cNvPr id="17" name="">
            <a:extLst xmlns:a="http://schemas.openxmlformats.org/drawingml/2006/main">
              <a:ext uri="{FF2B5EF4-FFF2-40B4-BE49-F238E27FC236}">
                <a16:creationId xmlns:a16="http://schemas.microsoft.com/office/drawing/2014/main" id="{5DA75010-2C43-4608-AB1F-17D2259D84FE}"/>
              </a:ext>
            </a:extLst>
          </p:cNvPr>
          <p:cNvSpPr>
            <a:spLocks xmlns:a="http://schemas.openxmlformats.org/drawingml/2006/main" noGrp="1"/>
          </p:cNvSpPr>
          <p:nvPr/>
        </p:nvSpPr>
        <p:spPr>
          <a:xfrm xmlns:a="http://schemas.openxmlformats.org/drawingml/2006/main">
            <a:off x="800100" y="3943350"/>
            <a:ext cx="4905375"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Suggested routes stay distinct from human overrides. One or more routes can be assigned with a required reason. Mark reviewed or reopen. A newer source revision marks analysis pending review and does not clear the override.</a:t>
            </a:r>
          </a:p>
        </p:txBody>
      </p:sp>
      <p:sp>
        <p:nvSpPr>
          <p:cNvPr id="18" name="">
            <a:extLst xmlns:a="http://schemas.openxmlformats.org/drawingml/2006/main">
              <a:ext uri="{FF2B5EF4-FFF2-40B4-BE49-F238E27FC236}">
                <a16:creationId xmlns:a16="http://schemas.microsoft.com/office/drawing/2014/main" id="{110529D4-8957-4B01-92B2-276DF0F9D54F}"/>
              </a:ext>
            </a:extLst>
          </p:cNvPr>
          <p:cNvSpPr>
            <a:spLocks xmlns:a="http://schemas.openxmlformats.org/drawingml/2006/main" noGrp="1"/>
          </p:cNvSpPr>
          <p:nvPr/>
        </p:nvSpPr>
        <p:spPr>
          <a:xfrm xmlns:a="http://schemas.openxmlformats.org/drawingml/2006/main">
            <a:off x="6143625" y="3476625"/>
            <a:ext cx="5438775" cy="1847850"/>
          </a:xfrm>
          <a:prstGeom xmlns:a="http://schemas.openxmlformats.org/drawingml/2006/main" prst="roundRect">
            <a:avLst>
              <a:gd name="adj" fmla="val 6186"/>
            </a:avLst>
          </a:prstGeom>
          <a:solidFill xmlns:a="http://schemas.openxmlformats.org/drawingml/2006/main">
            <a:srgbClr val="FFFFFF"/>
          </a:solidFill>
          <a:ln xmlns:a="http://schemas.openxmlformats.org/drawingml/2006/main" w="9525">
            <a:solidFill>
              <a:srgbClr val="E1E7EB"/>
            </a:solidFill>
            <a:prstDash val="solid"/>
          </a:ln>
        </p:spPr>
      </p:sp>
      <p:sp>
        <p:nvSpPr>
          <p:cNvPr id="19" name="">
            <a:extLst xmlns:a="http://schemas.openxmlformats.org/drawingml/2006/main">
              <a:ext uri="{FF2B5EF4-FFF2-40B4-BE49-F238E27FC236}">
                <a16:creationId xmlns:a16="http://schemas.microsoft.com/office/drawing/2014/main" id="{198CE97F-D54B-41F7-B0FC-7ABC77AAB52B}"/>
              </a:ext>
            </a:extLst>
          </p:cNvPr>
          <p:cNvSpPr>
            <a:spLocks xmlns:a="http://schemas.openxmlformats.org/drawingml/2006/main" noGrp="1"/>
          </p:cNvSpPr>
          <p:nvPr/>
        </p:nvSpPr>
        <p:spPr>
          <a:xfrm xmlns:a="http://schemas.openxmlformats.org/drawingml/2006/main">
            <a:off x="6143625" y="3476625"/>
            <a:ext cx="47625" cy="1847850"/>
          </a:xfrm>
          <a:prstGeom xmlns:a="http://schemas.openxmlformats.org/drawingml/2006/main" prst="roundRect">
            <a:avLst>
              <a:gd name="adj" fmla="val 50000"/>
            </a:avLst>
          </a:prstGeom>
          <a:solidFill xmlns:a="http://schemas.openxmlformats.org/drawingml/2006/main">
            <a:srgbClr val="0D9B8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1D20A6-6282-4201-B8DA-E3DAC592D9EF}"/>
              </a:ext>
            </a:extLst>
          </p:cNvPr>
          <p:cNvSpPr>
            <a:spLocks xmlns:a="http://schemas.openxmlformats.org/drawingml/2006/main" noGrp="1"/>
          </p:cNvSpPr>
          <p:nvPr/>
        </p:nvSpPr>
        <p:spPr>
          <a:xfrm xmlns:a="http://schemas.openxmlformats.org/drawingml/2006/main">
            <a:off x="6334125" y="3619500"/>
            <a:ext cx="5057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OUTPUTS</a:t>
            </a:r>
          </a:p>
        </p:txBody>
      </p:sp>
      <p:sp>
        <p:nvSpPr>
          <p:cNvPr id="21" name="">
            <a:extLst xmlns:a="http://schemas.openxmlformats.org/drawingml/2006/main">
              <a:ext uri="{FF2B5EF4-FFF2-40B4-BE49-F238E27FC236}">
                <a16:creationId xmlns:a16="http://schemas.microsoft.com/office/drawing/2014/main" id="{C810BB31-8BB9-4866-A9B8-B6C6F0D60ACB}"/>
              </a:ext>
            </a:extLst>
          </p:cNvPr>
          <p:cNvSpPr>
            <a:spLocks xmlns:a="http://schemas.openxmlformats.org/drawingml/2006/main" noGrp="1"/>
          </p:cNvSpPr>
          <p:nvPr/>
        </p:nvSpPr>
        <p:spPr>
          <a:xfrm xmlns:a="http://schemas.openxmlformats.org/drawingml/2006/main">
            <a:off x="6334125" y="3943350"/>
            <a:ext cx="5057775"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Each active route gets a separate Markdown file. The JSON manifest preserves source ID, revision, routes, review state, freshness, override flag, and relative output paths. Repeat export replaces the archive; it does not accumulate duplicate active files.</a:t>
            </a:r>
          </a:p>
        </p:txBody>
      </p:sp>
      <p:sp>
        <p:nvSpPr>
          <p:cNvPr id="22" name="">
            <a:extLst xmlns:a="http://schemas.openxmlformats.org/drawingml/2006/main">
              <a:ext uri="{FF2B5EF4-FFF2-40B4-BE49-F238E27FC236}">
                <a16:creationId xmlns:a16="http://schemas.microsoft.com/office/drawing/2014/main" id="{39577CD4-36C2-47E9-AFF6-521EC40FA061}"/>
              </a:ext>
            </a:extLst>
          </p:cNvPr>
          <p:cNvSpPr>
            <a:spLocks xmlns:a="http://schemas.openxmlformats.org/drawingml/2006/main" noGrp="1"/>
          </p:cNvSpPr>
          <p:nvPr/>
        </p:nvSpPr>
        <p:spPr>
          <a:xfrm xmlns:a="http://schemas.openxmlformats.org/drawingml/2006/main">
            <a:off x="609600" y="5591175"/>
            <a:ext cx="10972800" cy="457200"/>
          </a:xfrm>
          <a:prstGeom xmlns:a="http://schemas.openxmlformats.org/drawingml/2006/main" prst="roundRect">
            <a:avLst>
              <a:gd name="adj" fmla="val 25000"/>
            </a:avLst>
          </a:prstGeom>
          <a:solidFill xmlns:a="http://schemas.openxmlformats.org/drawingml/2006/main">
            <a:srgbClr val="111D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1E221C9-0233-4AAB-AE91-12234A41DA5C}"/>
              </a:ext>
            </a:extLst>
          </p:cNvPr>
          <p:cNvSpPr>
            <a:spLocks xmlns:a="http://schemas.openxmlformats.org/drawingml/2006/main" noGrp="1"/>
          </p:cNvSpPr>
          <p:nvPr/>
        </p:nvSpPr>
        <p:spPr>
          <a:xfrm xmlns:a="http://schemas.openxmlformats.org/drawingml/2006/main">
            <a:off x="809625" y="5676900"/>
            <a:ext cx="1052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FFFFFF"/>
                </a:solidFill>
              </a:defRPr>
            </a:defPPr>
            <a:lvl1pPr>
              <a:defRPr sz="1050" b="1">
                <a:solidFill>
                  <a:srgbClr val="FFFFFF"/>
                </a:solidFill>
              </a:defRPr>
            </a:lvl1pPr>
            <a:lvl2pPr>
              <a:defRPr sz="1050" b="1">
                <a:solidFill>
                  <a:srgbClr val="FFFFFF"/>
                </a:solidFill>
              </a:defRPr>
            </a:lvl2pPr>
            <a:lvl3pPr>
              <a:defRPr sz="1050" b="1">
                <a:solidFill>
                  <a:srgbClr val="FFFFFF"/>
                </a:solidFill>
              </a:defRPr>
            </a:lvl3pPr>
            <a:lvl4pPr>
              <a:defRPr sz="1050" b="1">
                <a:solidFill>
                  <a:srgbClr val="FFFFFF"/>
                </a:solidFill>
              </a:defRPr>
            </a:lvl4pPr>
            <a:lvl5pPr>
              <a:defRPr sz="1050" b="1">
                <a:solidFill>
                  <a:srgbClr val="FFFFFF"/>
                </a:solidFill>
              </a:defRPr>
            </a:lvl5pPr>
            <a:lvl6pPr>
              <a:defRPr sz="1050" b="1">
                <a:solidFill>
                  <a:srgbClr val="FFFFFF"/>
                </a:solidFill>
              </a:defRPr>
            </a:lvl6pPr>
            <a:lvl7pPr>
              <a:defRPr sz="1050" b="1">
                <a:solidFill>
                  <a:srgbClr val="FFFFFF"/>
                </a:solidFill>
              </a:defRPr>
            </a:lvl7pPr>
            <a:lvl8pPr>
              <a:defRPr sz="1050" b="1">
                <a:solidFill>
                  <a:srgbClr val="FFFFFF"/>
                </a:solidFill>
              </a:defRPr>
            </a:lvl8pPr>
            <a:lvl9pPr>
              <a:defRPr sz="1050" b="1">
                <a:solidFill>
                  <a:srgbClr val="FFFFFF"/>
                </a:solidFill>
              </a:defRPr>
            </a:lvl9pPr>
          </a:lstStyle>
          <a:p xmlns:a="http://schemas.openxmlformats.org/drawingml/2006/main">
            <a:pPr>
              <a:defRPr sz="1050" b="1">
                <a:solidFill>
                  <a:srgbClr val="FFFFFF"/>
                </a:solidFill>
              </a:defRPr>
            </a:pPr>
            <a:r>
              <a:rPr sz="1050" b="1">
                <a:solidFill>
                  <a:srgbClr val="FFFFFF"/>
                </a:solidFill>
              </a:rPr>
              <a:t>Deliberately left out: forecasts, revenue totals, win rates, CRM account matching, and automated prospect scoring.</a:t>
            </a:r>
          </a:p>
        </p:txBody>
      </p:sp>
    </p:spTree>
    <p:extLst>
      <p:ext uri="{BB962C8B-B14F-4D97-AF65-F5344CB8AC3E}">
        <p14:creationId xmlns:p14="http://schemas.microsoft.com/office/powerpoint/2010/main" val="2015326357"/>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57C6CDD-EB64-4F78-91F7-DCAA95D7DC3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D9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A21A72-1F92-47F2-A3F3-B9F052A1F267}"/>
              </a:ext>
            </a:extLst>
          </p:cNvPr>
          <p:cNvSpPr>
            <a:spLocks xmlns:a="http://schemas.openxmlformats.org/drawingml/2006/main" noGrp="1"/>
          </p:cNvSpPr>
          <p:nvPr/>
        </p:nvSpPr>
        <p:spPr>
          <a:xfrm xmlns:a="http://schemas.openxmlformats.org/drawingml/2006/main">
            <a:off x="609600" y="3238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03  /  ROUTING AND THE HARD CASE</a:t>
            </a:r>
          </a:p>
        </p:txBody>
      </p:sp>
      <p:sp>
        <p:nvSpPr>
          <p:cNvPr id="3" name="">
            <a:extLst xmlns:a="http://schemas.openxmlformats.org/drawingml/2006/main">
              <a:ext uri="{FF2B5EF4-FFF2-40B4-BE49-F238E27FC236}">
                <a16:creationId xmlns:a16="http://schemas.microsoft.com/office/drawing/2014/main" id="{99837D82-119C-4771-99CD-5EDE9E504048}"/>
              </a:ext>
            </a:extLst>
          </p:cNvPr>
          <p:cNvSpPr>
            <a:spLocks xmlns:a="http://schemas.openxmlformats.org/drawingml/2006/main" noGrp="1"/>
          </p:cNvSpPr>
          <p:nvPr/>
        </p:nvSpPr>
        <p:spPr>
          <a:xfrm xmlns:a="http://schemas.openxmlformats.org/drawingml/2006/main">
            <a:off x="609600" y="60007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92535"/>
                </a:solidFill>
              </a:defRPr>
            </a:defPPr>
            <a:lvl1pPr>
              <a:defRPr sz="2400" b="1">
                <a:solidFill>
                  <a:srgbClr val="192535"/>
                </a:solidFill>
              </a:defRPr>
            </a:lvl1pPr>
            <a:lvl2pPr>
              <a:defRPr sz="2400" b="1">
                <a:solidFill>
                  <a:srgbClr val="192535"/>
                </a:solidFill>
              </a:defRPr>
            </a:lvl2pPr>
            <a:lvl3pPr>
              <a:defRPr sz="2400" b="1">
                <a:solidFill>
                  <a:srgbClr val="192535"/>
                </a:solidFill>
              </a:defRPr>
            </a:lvl3pPr>
            <a:lvl4pPr>
              <a:defRPr sz="2400" b="1">
                <a:solidFill>
                  <a:srgbClr val="192535"/>
                </a:solidFill>
              </a:defRPr>
            </a:lvl4pPr>
            <a:lvl5pPr>
              <a:defRPr sz="2400" b="1">
                <a:solidFill>
                  <a:srgbClr val="192535"/>
                </a:solidFill>
              </a:defRPr>
            </a:lvl5pPr>
            <a:lvl6pPr>
              <a:defRPr sz="2400" b="1">
                <a:solidFill>
                  <a:srgbClr val="192535"/>
                </a:solidFill>
              </a:defRPr>
            </a:lvl6pPr>
            <a:lvl7pPr>
              <a:defRPr sz="2400" b="1">
                <a:solidFill>
                  <a:srgbClr val="192535"/>
                </a:solidFill>
              </a:defRPr>
            </a:lvl7pPr>
            <a:lvl8pPr>
              <a:defRPr sz="2400" b="1">
                <a:solidFill>
                  <a:srgbClr val="192535"/>
                </a:solidFill>
              </a:defRPr>
            </a:lvl8pPr>
            <a:lvl9pPr>
              <a:defRPr sz="2400" b="1">
                <a:solidFill>
                  <a:srgbClr val="192535"/>
                </a:solidFill>
              </a:defRPr>
            </a:lvl9pPr>
          </a:lstStyle>
          <a:p xmlns:a="http://schemas.openxmlformats.org/drawingml/2006/main">
            <a:pPr>
              <a:defRPr sz="2400" b="1">
                <a:solidFill>
                  <a:srgbClr val="192535"/>
                </a:solidFill>
              </a:defRPr>
            </a:pPr>
            <a:r>
              <a:rPr sz="2400" b="1">
                <a:solidFill>
                  <a:srgbClr val="192535"/>
                </a:solidFill>
              </a:rPr>
              <a:t>M07: keep the customer issue visible without claiming a fix</a:t>
            </a:r>
          </a:p>
        </p:txBody>
      </p:sp>
      <p:sp>
        <p:nvSpPr>
          <p:cNvPr id="4" name="">
            <a:extLst xmlns:a="http://schemas.openxmlformats.org/drawingml/2006/main">
              <a:ext uri="{FF2B5EF4-FFF2-40B4-BE49-F238E27FC236}">
                <a16:creationId xmlns:a16="http://schemas.microsoft.com/office/drawing/2014/main" id="{659AF3CB-56DA-457B-8840-51350E9A0F88}"/>
              </a:ext>
            </a:extLst>
          </p:cNvPr>
          <p:cNvSpPr>
            <a:spLocks xmlns:a="http://schemas.openxmlformats.org/drawingml/2006/main" noGrp="1"/>
          </p:cNvSpPr>
          <p:nvPr/>
        </p:nvSpPr>
        <p:spPr>
          <a:xfrm xmlns:a="http://schemas.openxmlformats.org/drawingml/2006/main">
            <a:off x="609600" y="6457950"/>
            <a:ext cx="762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SIGNAL  /  REVENUE INTELLIGENCE INBOX  /  PRIVATE ASSESSMENT SAMPLE</a:t>
            </a:r>
          </a:p>
        </p:txBody>
      </p:sp>
      <p:sp>
        <p:nvSpPr>
          <p:cNvPr id="5" name="">
            <a:extLst xmlns:a="http://schemas.openxmlformats.org/drawingml/2006/main">
              <a:ext uri="{FF2B5EF4-FFF2-40B4-BE49-F238E27FC236}">
                <a16:creationId xmlns:a16="http://schemas.microsoft.com/office/drawing/2014/main" id="{A3A5BCC6-1F9B-417B-9D11-078D0C22D000}"/>
              </a:ext>
            </a:extLst>
          </p:cNvPr>
          <p:cNvSpPr>
            <a:spLocks xmlns:a="http://schemas.openxmlformats.org/drawingml/2006/main" noGrp="1"/>
          </p:cNvSpPr>
          <p:nvPr/>
        </p:nvSpPr>
        <p:spPr>
          <a:xfrm xmlns:a="http://schemas.openxmlformats.org/drawingml/2006/main">
            <a:off x="11258550" y="64579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04</a:t>
            </a:r>
          </a:p>
        </p:txBody>
      </p:sp>
      <p:sp>
        <p:nvSpPr>
          <p:cNvPr id="6" name="">
            <a:extLst xmlns:a="http://schemas.openxmlformats.org/drawingml/2006/main">
              <a:ext uri="{FF2B5EF4-FFF2-40B4-BE49-F238E27FC236}">
                <a16:creationId xmlns:a16="http://schemas.microsoft.com/office/drawing/2014/main" id="{90EE2A41-4737-4C9F-AB6F-64BC4A24D6CB}"/>
              </a:ext>
            </a:extLst>
          </p:cNvPr>
          <p:cNvSpPr>
            <a:spLocks xmlns:a="http://schemas.openxmlformats.org/drawingml/2006/main" noGrp="1"/>
          </p:cNvSpPr>
          <p:nvPr/>
        </p:nvSpPr>
        <p:spPr>
          <a:xfrm xmlns:a="http://schemas.openxmlformats.org/drawingml/2006/main">
            <a:off x="609600" y="1371600"/>
            <a:ext cx="10972800" cy="1095375"/>
          </a:xfrm>
          <a:prstGeom xmlns:a="http://schemas.openxmlformats.org/drawingml/2006/main" prst="roundRect">
            <a:avLst>
              <a:gd name="adj" fmla="val 10435"/>
            </a:avLst>
          </a:prstGeom>
          <a:solidFill xmlns:a="http://schemas.openxmlformats.org/drawingml/2006/main">
            <a:srgbClr val="111D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9F6FCA-3BB9-4E5F-AEA8-1441F998756D}"/>
              </a:ext>
            </a:extLst>
          </p:cNvPr>
          <p:cNvSpPr>
            <a:spLocks xmlns:a="http://schemas.openxmlformats.org/drawingml/2006/main" noGrp="1"/>
          </p:cNvSpPr>
          <p:nvPr/>
        </p:nvSpPr>
        <p:spPr>
          <a:xfrm xmlns:a="http://schemas.openxmlformats.org/drawingml/2006/main">
            <a:off x="838200" y="15335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DD9C9"/>
                </a:solidFill>
              </a:defRPr>
            </a:defPPr>
            <a:lvl1pPr>
              <a:defRPr sz="900" b="1">
                <a:solidFill>
                  <a:srgbClr val="7DD9C9"/>
                </a:solidFill>
              </a:defRPr>
            </a:lvl1pPr>
            <a:lvl2pPr>
              <a:defRPr sz="900" b="1">
                <a:solidFill>
                  <a:srgbClr val="7DD9C9"/>
                </a:solidFill>
              </a:defRPr>
            </a:lvl2pPr>
            <a:lvl3pPr>
              <a:defRPr sz="900" b="1">
                <a:solidFill>
                  <a:srgbClr val="7DD9C9"/>
                </a:solidFill>
              </a:defRPr>
            </a:lvl3pPr>
            <a:lvl4pPr>
              <a:defRPr sz="900" b="1">
                <a:solidFill>
                  <a:srgbClr val="7DD9C9"/>
                </a:solidFill>
              </a:defRPr>
            </a:lvl4pPr>
            <a:lvl5pPr>
              <a:defRPr sz="900" b="1">
                <a:solidFill>
                  <a:srgbClr val="7DD9C9"/>
                </a:solidFill>
              </a:defRPr>
            </a:lvl5pPr>
            <a:lvl6pPr>
              <a:defRPr sz="900" b="1">
                <a:solidFill>
                  <a:srgbClr val="7DD9C9"/>
                </a:solidFill>
              </a:defRPr>
            </a:lvl6pPr>
            <a:lvl7pPr>
              <a:defRPr sz="900" b="1">
                <a:solidFill>
                  <a:srgbClr val="7DD9C9"/>
                </a:solidFill>
              </a:defRPr>
            </a:lvl7pPr>
            <a:lvl8pPr>
              <a:defRPr sz="900" b="1">
                <a:solidFill>
                  <a:srgbClr val="7DD9C9"/>
                </a:solidFill>
              </a:defRPr>
            </a:lvl8pPr>
            <a:lvl9pPr>
              <a:defRPr sz="900" b="1">
                <a:solidFill>
                  <a:srgbClr val="7DD9C9"/>
                </a:solidFill>
              </a:defRPr>
            </a:lvl9pPr>
          </a:lstStyle>
          <a:p xmlns:a="http://schemas.openxmlformats.org/drawingml/2006/main">
            <a:pPr>
              <a:defRPr sz="900" b="1">
                <a:solidFill>
                  <a:srgbClr val="7DD9C9"/>
                </a:solidFill>
              </a:defRPr>
            </a:pPr>
            <a:r>
              <a:rPr sz="900" b="1">
                <a:solidFill>
                  <a:srgbClr val="7DD9C9"/>
                </a:solidFill>
              </a:rPr>
              <a:t>CUSTOMER EVIDENCE  /  M07 · TURN 15</a:t>
            </a:r>
          </a:p>
        </p:txBody>
      </p:sp>
      <p:sp>
        <p:nvSpPr>
          <p:cNvPr id="8" name="">
            <a:extLst xmlns:a="http://schemas.openxmlformats.org/drawingml/2006/main">
              <a:ext uri="{FF2B5EF4-FFF2-40B4-BE49-F238E27FC236}">
                <a16:creationId xmlns:a16="http://schemas.microsoft.com/office/drawing/2014/main" id="{6A70D245-A148-48A0-8721-6B4785EA2B32}"/>
              </a:ext>
            </a:extLst>
          </p:cNvPr>
          <p:cNvSpPr>
            <a:spLocks xmlns:a="http://schemas.openxmlformats.org/drawingml/2006/main" noGrp="1"/>
          </p:cNvSpPr>
          <p:nvPr/>
        </p:nvSpPr>
        <p:spPr>
          <a:xfrm xmlns:a="http://schemas.openxmlformats.org/drawingml/2006/main">
            <a:off x="838200" y="184785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vl1pPr>
              <a:defRPr sz="1650" b="1">
                <a:solidFill>
                  <a:srgbClr val="FFFFFF"/>
                </a:solidFill>
              </a:defRPr>
            </a:lvl1pPr>
            <a:lvl2pPr>
              <a:defRPr sz="1650" b="1">
                <a:solidFill>
                  <a:srgbClr val="FFFFFF"/>
                </a:solidFill>
              </a:defRPr>
            </a:lvl2pPr>
            <a:lvl3pPr>
              <a:defRPr sz="1650" b="1">
                <a:solidFill>
                  <a:srgbClr val="FFFFFF"/>
                </a:solidFill>
              </a:defRPr>
            </a:lvl3pPr>
            <a:lvl4pPr>
              <a:defRPr sz="1650" b="1">
                <a:solidFill>
                  <a:srgbClr val="FFFFFF"/>
                </a:solidFill>
              </a:defRPr>
            </a:lvl4pPr>
            <a:lvl5pPr>
              <a:defRPr sz="1650" b="1">
                <a:solidFill>
                  <a:srgbClr val="FFFFFF"/>
                </a:solidFill>
              </a:defRPr>
            </a:lvl5pPr>
            <a:lvl6pPr>
              <a:defRPr sz="1650" b="1">
                <a:solidFill>
                  <a:srgbClr val="FFFFFF"/>
                </a:solidFill>
              </a:defRPr>
            </a:lvl6pPr>
            <a:lvl7pPr>
              <a:defRPr sz="1650" b="1">
                <a:solidFill>
                  <a:srgbClr val="FFFFFF"/>
                </a:solidFill>
              </a:defRPr>
            </a:lvl7pPr>
            <a:lvl8pPr>
              <a:defRPr sz="1650" b="1">
                <a:solidFill>
                  <a:srgbClr val="FFFFFF"/>
                </a:solidFill>
              </a:defRPr>
            </a:lvl8pPr>
            <a:lvl9pPr>
              <a:defRPr sz="1650" b="1">
                <a:solidFill>
                  <a:srgbClr val="FFFFFF"/>
                </a:solidFill>
              </a:defRPr>
            </a:lvl9pPr>
          </a:lstStyle>
          <a:p xmlns:a="http://schemas.openxmlformats.org/drawingml/2006/main">
            <a:pPr>
              <a:defRPr sz="1650" b="1">
                <a:solidFill>
                  <a:srgbClr val="FFFFFF"/>
                </a:solidFill>
              </a:defRPr>
            </a:pPr>
            <a:r>
              <a:rPr sz="1650" b="1">
                <a:solidFill>
                  <a:srgbClr val="FFFFFF"/>
                </a:solidFill>
              </a:rPr>
              <a:t>“The workaround does not mean the direct upload issue has been resolved.”</a:t>
            </a:r>
          </a:p>
        </p:txBody>
      </p:sp>
      <p:sp>
        <p:nvSpPr>
          <p:cNvPr id="9" name="">
            <a:extLst xmlns:a="http://schemas.openxmlformats.org/drawingml/2006/main">
              <a:ext uri="{FF2B5EF4-FFF2-40B4-BE49-F238E27FC236}">
                <a16:creationId xmlns:a16="http://schemas.microsoft.com/office/drawing/2014/main" id="{8BD5A230-5EC8-4361-BBA8-8700FF385ABD}"/>
              </a:ext>
            </a:extLst>
          </p:cNvPr>
          <p:cNvSpPr>
            <a:spLocks xmlns:a="http://schemas.openxmlformats.org/drawingml/2006/main" noGrp="1"/>
          </p:cNvSpPr>
          <p:nvPr/>
        </p:nvSpPr>
        <p:spPr>
          <a:xfrm xmlns:a="http://schemas.openxmlformats.org/drawingml/2006/main">
            <a:off x="609600" y="2771775"/>
            <a:ext cx="25908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EB"/>
            </a:solidFill>
            <a:prstDash val="solid"/>
          </a:ln>
        </p:spPr>
      </p:sp>
      <p:sp>
        <p:nvSpPr>
          <p:cNvPr id="10" name="">
            <a:extLst xmlns:a="http://schemas.openxmlformats.org/drawingml/2006/main">
              <a:ext uri="{FF2B5EF4-FFF2-40B4-BE49-F238E27FC236}">
                <a16:creationId xmlns:a16="http://schemas.microsoft.com/office/drawing/2014/main" id="{4B781EE3-96AE-4EF5-ABA1-A8C24C2EE300}"/>
              </a:ext>
            </a:extLst>
          </p:cNvPr>
          <p:cNvSpPr>
            <a:spLocks xmlns:a="http://schemas.openxmlformats.org/drawingml/2006/main" noGrp="1"/>
          </p:cNvSpPr>
          <p:nvPr/>
        </p:nvSpPr>
        <p:spPr>
          <a:xfrm xmlns:a="http://schemas.openxmlformats.org/drawingml/2006/main">
            <a:off x="762000" y="29146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01</a:t>
            </a:r>
          </a:p>
        </p:txBody>
      </p:sp>
      <p:sp>
        <p:nvSpPr>
          <p:cNvPr id="11" name="">
            <a:extLst xmlns:a="http://schemas.openxmlformats.org/drawingml/2006/main">
              <a:ext uri="{FF2B5EF4-FFF2-40B4-BE49-F238E27FC236}">
                <a16:creationId xmlns:a16="http://schemas.microsoft.com/office/drawing/2014/main" id="{1CA64854-F3F5-4F7F-AB0A-AF0809F0F6CF}"/>
              </a:ext>
            </a:extLst>
          </p:cNvPr>
          <p:cNvSpPr>
            <a:spLocks xmlns:a="http://schemas.openxmlformats.org/drawingml/2006/main" noGrp="1"/>
          </p:cNvSpPr>
          <p:nvPr/>
        </p:nvSpPr>
        <p:spPr>
          <a:xfrm xmlns:a="http://schemas.openxmlformats.org/drawingml/2006/main">
            <a:off x="762000" y="3190875"/>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92535"/>
                </a:solidFill>
              </a:defRPr>
            </a:defPPr>
            <a:lvl1pPr>
              <a:defRPr sz="1125" b="1">
                <a:solidFill>
                  <a:srgbClr val="192535"/>
                </a:solidFill>
              </a:defRPr>
            </a:lvl1pPr>
            <a:lvl2pPr>
              <a:defRPr sz="1125" b="1">
                <a:solidFill>
                  <a:srgbClr val="192535"/>
                </a:solidFill>
              </a:defRPr>
            </a:lvl2pPr>
            <a:lvl3pPr>
              <a:defRPr sz="1125" b="1">
                <a:solidFill>
                  <a:srgbClr val="192535"/>
                </a:solidFill>
              </a:defRPr>
            </a:lvl3pPr>
            <a:lvl4pPr>
              <a:defRPr sz="1125" b="1">
                <a:solidFill>
                  <a:srgbClr val="192535"/>
                </a:solidFill>
              </a:defRPr>
            </a:lvl4pPr>
            <a:lvl5pPr>
              <a:defRPr sz="1125" b="1">
                <a:solidFill>
                  <a:srgbClr val="192535"/>
                </a:solidFill>
              </a:defRPr>
            </a:lvl5pPr>
            <a:lvl6pPr>
              <a:defRPr sz="1125" b="1">
                <a:solidFill>
                  <a:srgbClr val="192535"/>
                </a:solidFill>
              </a:defRPr>
            </a:lvl6pPr>
            <a:lvl7pPr>
              <a:defRPr sz="1125" b="1">
                <a:solidFill>
                  <a:srgbClr val="192535"/>
                </a:solidFill>
              </a:defRPr>
            </a:lvl7pPr>
            <a:lvl8pPr>
              <a:defRPr sz="1125" b="1">
                <a:solidFill>
                  <a:srgbClr val="192535"/>
                </a:solidFill>
              </a:defRPr>
            </a:lvl8pPr>
            <a:lvl9pPr>
              <a:defRPr sz="1125" b="1">
                <a:solidFill>
                  <a:srgbClr val="192535"/>
                </a:solidFill>
              </a:defRPr>
            </a:lvl9pPr>
          </a:lstStyle>
          <a:p xmlns:a="http://schemas.openxmlformats.org/drawingml/2006/main">
            <a:pPr>
              <a:defRPr sz="1125" b="1">
                <a:solidFill>
                  <a:srgbClr val="192535"/>
                </a:solidFill>
              </a:defRPr>
            </a:pPr>
            <a:r>
              <a:rPr sz="1125" b="1">
                <a:solidFill>
                  <a:srgbClr val="192535"/>
                </a:solidFill>
              </a:rPr>
              <a:t>Description</a:t>
            </a:r>
          </a:p>
        </p:txBody>
      </p:sp>
      <p:sp>
        <p:nvSpPr>
          <p:cNvPr id="12" name="">
            <a:extLst xmlns:a="http://schemas.openxmlformats.org/drawingml/2006/main">
              <a:ext uri="{FF2B5EF4-FFF2-40B4-BE49-F238E27FC236}">
                <a16:creationId xmlns:a16="http://schemas.microsoft.com/office/drawing/2014/main" id="{9CE16FAA-C5A6-48F3-BDF1-682E58005706}"/>
              </a:ext>
            </a:extLst>
          </p:cNvPr>
          <p:cNvSpPr>
            <a:spLocks xmlns:a="http://schemas.openxmlformats.org/drawingml/2006/main" noGrp="1"/>
          </p:cNvSpPr>
          <p:nvPr/>
        </p:nvSpPr>
        <p:spPr>
          <a:xfrm xmlns:a="http://schemas.openxmlformats.org/drawingml/2006/main">
            <a:off x="762000" y="34766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647285"/>
                </a:solidFill>
              </a:defRPr>
            </a:defPPr>
            <a:lvl1pPr>
              <a:defRPr sz="825" b="0">
                <a:solidFill>
                  <a:srgbClr val="647285"/>
                </a:solidFill>
              </a:defRPr>
            </a:lvl1pPr>
            <a:lvl2pPr>
              <a:defRPr sz="825" b="0">
                <a:solidFill>
                  <a:srgbClr val="647285"/>
                </a:solidFill>
              </a:defRPr>
            </a:lvl2pPr>
            <a:lvl3pPr>
              <a:defRPr sz="825" b="0">
                <a:solidFill>
                  <a:srgbClr val="647285"/>
                </a:solidFill>
              </a:defRPr>
            </a:lvl3pPr>
            <a:lvl4pPr>
              <a:defRPr sz="825" b="0">
                <a:solidFill>
                  <a:srgbClr val="647285"/>
                </a:solidFill>
              </a:defRPr>
            </a:lvl4pPr>
            <a:lvl5pPr>
              <a:defRPr sz="825" b="0">
                <a:solidFill>
                  <a:srgbClr val="647285"/>
                </a:solidFill>
              </a:defRPr>
            </a:lvl5pPr>
            <a:lvl6pPr>
              <a:defRPr sz="825" b="0">
                <a:solidFill>
                  <a:srgbClr val="647285"/>
                </a:solidFill>
              </a:defRPr>
            </a:lvl6pPr>
            <a:lvl7pPr>
              <a:defRPr sz="825" b="0">
                <a:solidFill>
                  <a:srgbClr val="647285"/>
                </a:solidFill>
              </a:defRPr>
            </a:lvl7pPr>
            <a:lvl8pPr>
              <a:defRPr sz="825" b="0">
                <a:solidFill>
                  <a:srgbClr val="647285"/>
                </a:solidFill>
              </a:defRPr>
            </a:lvl8pPr>
            <a:lvl9pPr>
              <a:defRPr sz="825" b="0">
                <a:solidFill>
                  <a:srgbClr val="647285"/>
                </a:solidFill>
              </a:defRPr>
            </a:lvl9pPr>
          </a:lstStyle>
          <a:p xmlns:a="http://schemas.openxmlformats.org/drawingml/2006/main">
            <a:pPr>
              <a:defRPr sz="825" b="0">
                <a:solidFill>
                  <a:srgbClr val="647285"/>
                </a:solidFill>
              </a:defRPr>
            </a:pPr>
            <a:r>
              <a:rPr sz="825" b="0">
                <a:solidFill>
                  <a:srgbClr val="647285"/>
                </a:solidFill>
              </a:rPr>
              <a:t>Saved edit stayed stale on the displayed screen.</a:t>
            </a:r>
          </a:p>
        </p:txBody>
      </p:sp>
      <p:sp>
        <p:nvSpPr>
          <p:cNvPr id="13" name="">
            <a:extLst xmlns:a="http://schemas.openxmlformats.org/drawingml/2006/main">
              <a:ext uri="{FF2B5EF4-FFF2-40B4-BE49-F238E27FC236}">
                <a16:creationId xmlns:a16="http://schemas.microsoft.com/office/drawing/2014/main" id="{67C4941B-1713-44D2-8A47-F8C327E3C7FE}"/>
              </a:ext>
            </a:extLst>
          </p:cNvPr>
          <p:cNvSpPr>
            <a:spLocks xmlns:a="http://schemas.openxmlformats.org/drawingml/2006/main" noGrp="1"/>
          </p:cNvSpPr>
          <p:nvPr/>
        </p:nvSpPr>
        <p:spPr>
          <a:xfrm xmlns:a="http://schemas.openxmlformats.org/drawingml/2006/main">
            <a:off x="762000" y="3933825"/>
            <a:ext cx="228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 b="1">
                <a:solidFill>
                  <a:srgbClr val="CA6868"/>
                </a:solidFill>
              </a:defRPr>
            </a:defPPr>
            <a:lvl1pPr>
              <a:defRPr sz="675" b="1">
                <a:solidFill>
                  <a:srgbClr val="CA6868"/>
                </a:solidFill>
              </a:defRPr>
            </a:lvl1pPr>
            <a:lvl2pPr>
              <a:defRPr sz="675" b="1">
                <a:solidFill>
                  <a:srgbClr val="CA6868"/>
                </a:solidFill>
              </a:defRPr>
            </a:lvl2pPr>
            <a:lvl3pPr>
              <a:defRPr sz="675" b="1">
                <a:solidFill>
                  <a:srgbClr val="CA6868"/>
                </a:solidFill>
              </a:defRPr>
            </a:lvl3pPr>
            <a:lvl4pPr>
              <a:defRPr sz="675" b="1">
                <a:solidFill>
                  <a:srgbClr val="CA6868"/>
                </a:solidFill>
              </a:defRPr>
            </a:lvl4pPr>
            <a:lvl5pPr>
              <a:defRPr sz="675" b="1">
                <a:solidFill>
                  <a:srgbClr val="CA6868"/>
                </a:solidFill>
              </a:defRPr>
            </a:lvl5pPr>
            <a:lvl6pPr>
              <a:defRPr sz="675" b="1">
                <a:solidFill>
                  <a:srgbClr val="CA6868"/>
                </a:solidFill>
              </a:defRPr>
            </a:lvl6pPr>
            <a:lvl7pPr>
              <a:defRPr sz="675" b="1">
                <a:solidFill>
                  <a:srgbClr val="CA6868"/>
                </a:solidFill>
              </a:defRPr>
            </a:lvl7pPr>
            <a:lvl8pPr>
              <a:defRPr sz="675" b="1">
                <a:solidFill>
                  <a:srgbClr val="CA6868"/>
                </a:solidFill>
              </a:defRPr>
            </a:lvl8pPr>
            <a:lvl9pPr>
              <a:defRPr sz="675" b="1">
                <a:solidFill>
                  <a:srgbClr val="CA6868"/>
                </a:solidFill>
              </a:defRPr>
            </a:lvl9pPr>
          </a:lstStyle>
          <a:p xmlns:a="http://schemas.openxmlformats.org/drawingml/2006/main">
            <a:pPr>
              <a:defRPr sz="675" b="1">
                <a:solidFill>
                  <a:srgbClr val="CA6868"/>
                </a:solidFill>
              </a:defRPr>
            </a:pPr>
            <a:r>
              <a:rPr sz="675" b="1">
                <a:solidFill>
                  <a:srgbClr val="CA6868"/>
                </a:solidFill>
              </a:rPr>
              <a:t>ROOT CAUSE UNKNOWN</a:t>
            </a:r>
          </a:p>
        </p:txBody>
      </p:sp>
      <p:sp>
        <p:nvSpPr>
          <p:cNvPr id="14" name="">
            <a:extLst xmlns:a="http://schemas.openxmlformats.org/drawingml/2006/main">
              <a:ext uri="{FF2B5EF4-FFF2-40B4-BE49-F238E27FC236}">
                <a16:creationId xmlns:a16="http://schemas.microsoft.com/office/drawing/2014/main" id="{98D60368-379A-48FF-BB68-8248011471D3}"/>
              </a:ext>
            </a:extLst>
          </p:cNvPr>
          <p:cNvSpPr>
            <a:spLocks xmlns:a="http://schemas.openxmlformats.org/drawingml/2006/main" noGrp="1"/>
          </p:cNvSpPr>
          <p:nvPr/>
        </p:nvSpPr>
        <p:spPr>
          <a:xfrm xmlns:a="http://schemas.openxmlformats.org/drawingml/2006/main">
            <a:off x="3400425" y="2771775"/>
            <a:ext cx="25908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EB"/>
            </a:solidFill>
            <a:prstDash val="solid"/>
          </a:ln>
        </p:spPr>
      </p:sp>
      <p:sp>
        <p:nvSpPr>
          <p:cNvPr id="15" name="">
            <a:extLst xmlns:a="http://schemas.openxmlformats.org/drawingml/2006/main">
              <a:ext uri="{FF2B5EF4-FFF2-40B4-BE49-F238E27FC236}">
                <a16:creationId xmlns:a16="http://schemas.microsoft.com/office/drawing/2014/main" id="{F428F7EE-1E91-41F4-944E-C47AD4A39957}"/>
              </a:ext>
            </a:extLst>
          </p:cNvPr>
          <p:cNvSpPr>
            <a:spLocks xmlns:a="http://schemas.openxmlformats.org/drawingml/2006/main" noGrp="1"/>
          </p:cNvSpPr>
          <p:nvPr/>
        </p:nvSpPr>
        <p:spPr>
          <a:xfrm xmlns:a="http://schemas.openxmlformats.org/drawingml/2006/main">
            <a:off x="3552825" y="29146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02</a:t>
            </a:r>
          </a:p>
        </p:txBody>
      </p:sp>
      <p:sp>
        <p:nvSpPr>
          <p:cNvPr id="16" name="">
            <a:extLst xmlns:a="http://schemas.openxmlformats.org/drawingml/2006/main">
              <a:ext uri="{FF2B5EF4-FFF2-40B4-BE49-F238E27FC236}">
                <a16:creationId xmlns:a16="http://schemas.microsoft.com/office/drawing/2014/main" id="{C663BB06-5612-4599-8A0D-3AB1FF0F9CD8}"/>
              </a:ext>
            </a:extLst>
          </p:cNvPr>
          <p:cNvSpPr>
            <a:spLocks xmlns:a="http://schemas.openxmlformats.org/drawingml/2006/main" noGrp="1"/>
          </p:cNvSpPr>
          <p:nvPr/>
        </p:nvSpPr>
        <p:spPr>
          <a:xfrm xmlns:a="http://schemas.openxmlformats.org/drawingml/2006/main">
            <a:off x="3552825" y="3190875"/>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92535"/>
                </a:solidFill>
              </a:defRPr>
            </a:defPPr>
            <a:lvl1pPr>
              <a:defRPr sz="1125" b="1">
                <a:solidFill>
                  <a:srgbClr val="192535"/>
                </a:solidFill>
              </a:defRPr>
            </a:lvl1pPr>
            <a:lvl2pPr>
              <a:defRPr sz="1125" b="1">
                <a:solidFill>
                  <a:srgbClr val="192535"/>
                </a:solidFill>
              </a:defRPr>
            </a:lvl2pPr>
            <a:lvl3pPr>
              <a:defRPr sz="1125" b="1">
                <a:solidFill>
                  <a:srgbClr val="192535"/>
                </a:solidFill>
              </a:defRPr>
            </a:lvl3pPr>
            <a:lvl4pPr>
              <a:defRPr sz="1125" b="1">
                <a:solidFill>
                  <a:srgbClr val="192535"/>
                </a:solidFill>
              </a:defRPr>
            </a:lvl4pPr>
            <a:lvl5pPr>
              <a:defRPr sz="1125" b="1">
                <a:solidFill>
                  <a:srgbClr val="192535"/>
                </a:solidFill>
              </a:defRPr>
            </a:lvl5pPr>
            <a:lvl6pPr>
              <a:defRPr sz="1125" b="1">
                <a:solidFill>
                  <a:srgbClr val="192535"/>
                </a:solidFill>
              </a:defRPr>
            </a:lvl6pPr>
            <a:lvl7pPr>
              <a:defRPr sz="1125" b="1">
                <a:solidFill>
                  <a:srgbClr val="192535"/>
                </a:solidFill>
              </a:defRPr>
            </a:lvl7pPr>
            <a:lvl8pPr>
              <a:defRPr sz="1125" b="1">
                <a:solidFill>
                  <a:srgbClr val="192535"/>
                </a:solidFill>
              </a:defRPr>
            </a:lvl8pPr>
            <a:lvl9pPr>
              <a:defRPr sz="1125" b="1">
                <a:solidFill>
                  <a:srgbClr val="192535"/>
                </a:solidFill>
              </a:defRPr>
            </a:lvl9pPr>
          </a:lstStyle>
          <a:p xmlns:a="http://schemas.openxmlformats.org/drawingml/2006/main">
            <a:pPr>
              <a:defRPr sz="1125" b="1">
                <a:solidFill>
                  <a:srgbClr val="192535"/>
                </a:solidFill>
              </a:defRPr>
            </a:pPr>
            <a:r>
              <a:rPr sz="1125" b="1">
                <a:solidFill>
                  <a:srgbClr val="192535"/>
                </a:solidFill>
              </a:rPr>
              <a:t>Attachment</a:t>
            </a:r>
          </a:p>
        </p:txBody>
      </p:sp>
      <p:sp>
        <p:nvSpPr>
          <p:cNvPr id="17" name="">
            <a:extLst xmlns:a="http://schemas.openxmlformats.org/drawingml/2006/main">
              <a:ext uri="{FF2B5EF4-FFF2-40B4-BE49-F238E27FC236}">
                <a16:creationId xmlns:a16="http://schemas.microsoft.com/office/drawing/2014/main" id="{90A3D9EB-4C3A-459E-B928-72AC6FB00043}"/>
              </a:ext>
            </a:extLst>
          </p:cNvPr>
          <p:cNvSpPr>
            <a:spLocks xmlns:a="http://schemas.openxmlformats.org/drawingml/2006/main" noGrp="1"/>
          </p:cNvSpPr>
          <p:nvPr/>
        </p:nvSpPr>
        <p:spPr>
          <a:xfrm xmlns:a="http://schemas.openxmlformats.org/drawingml/2006/main">
            <a:off x="3552825" y="34766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647285"/>
                </a:solidFill>
              </a:defRPr>
            </a:defPPr>
            <a:lvl1pPr>
              <a:defRPr sz="825" b="0">
                <a:solidFill>
                  <a:srgbClr val="647285"/>
                </a:solidFill>
              </a:defRPr>
            </a:lvl1pPr>
            <a:lvl2pPr>
              <a:defRPr sz="825" b="0">
                <a:solidFill>
                  <a:srgbClr val="647285"/>
                </a:solidFill>
              </a:defRPr>
            </a:lvl2pPr>
            <a:lvl3pPr>
              <a:defRPr sz="825" b="0">
                <a:solidFill>
                  <a:srgbClr val="647285"/>
                </a:solidFill>
              </a:defRPr>
            </a:lvl3pPr>
            <a:lvl4pPr>
              <a:defRPr sz="825" b="0">
                <a:solidFill>
                  <a:srgbClr val="647285"/>
                </a:solidFill>
              </a:defRPr>
            </a:lvl4pPr>
            <a:lvl5pPr>
              <a:defRPr sz="825" b="0">
                <a:solidFill>
                  <a:srgbClr val="647285"/>
                </a:solidFill>
              </a:defRPr>
            </a:lvl5pPr>
            <a:lvl6pPr>
              <a:defRPr sz="825" b="0">
                <a:solidFill>
                  <a:srgbClr val="647285"/>
                </a:solidFill>
              </a:defRPr>
            </a:lvl6pPr>
            <a:lvl7pPr>
              <a:defRPr sz="825" b="0">
                <a:solidFill>
                  <a:srgbClr val="647285"/>
                </a:solidFill>
              </a:defRPr>
            </a:lvl7pPr>
            <a:lvl8pPr>
              <a:defRPr sz="825" b="0">
                <a:solidFill>
                  <a:srgbClr val="647285"/>
                </a:solidFill>
              </a:defRPr>
            </a:lvl8pPr>
            <a:lvl9pPr>
              <a:defRPr sz="825" b="0">
                <a:solidFill>
                  <a:srgbClr val="647285"/>
                </a:solidFill>
              </a:defRPr>
            </a:lvl9pPr>
          </a:lstStyle>
          <a:p xmlns:a="http://schemas.openxmlformats.org/drawingml/2006/main">
            <a:pPr>
              <a:defRPr sz="825" b="0">
                <a:solidFill>
                  <a:srgbClr val="647285"/>
                </a:solidFill>
              </a:defRPr>
            </a:pPr>
            <a:r>
              <a:rPr sz="825" b="0">
                <a:solidFill>
                  <a:srgbClr val="647285"/>
                </a:solidFill>
              </a:rPr>
              <a:t>Recreate payment failed; Review path uploaded.</a:t>
            </a:r>
          </a:p>
        </p:txBody>
      </p:sp>
      <p:sp>
        <p:nvSpPr>
          <p:cNvPr id="18" name="">
            <a:extLst xmlns:a="http://schemas.openxmlformats.org/drawingml/2006/main">
              <a:ext uri="{FF2B5EF4-FFF2-40B4-BE49-F238E27FC236}">
                <a16:creationId xmlns:a16="http://schemas.microsoft.com/office/drawing/2014/main" id="{805D44E9-7DE2-4C59-AA6E-C0F2309F9BD8}"/>
              </a:ext>
            </a:extLst>
          </p:cNvPr>
          <p:cNvSpPr>
            <a:spLocks xmlns:a="http://schemas.openxmlformats.org/drawingml/2006/main" noGrp="1"/>
          </p:cNvSpPr>
          <p:nvPr/>
        </p:nvSpPr>
        <p:spPr>
          <a:xfrm xmlns:a="http://schemas.openxmlformats.org/drawingml/2006/main">
            <a:off x="3552825" y="3933825"/>
            <a:ext cx="228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 b="1">
                <a:solidFill>
                  <a:srgbClr val="F2B64A"/>
                </a:solidFill>
              </a:defRPr>
            </a:defPPr>
            <a:lvl1pPr>
              <a:defRPr sz="675" b="1">
                <a:solidFill>
                  <a:srgbClr val="F2B64A"/>
                </a:solidFill>
              </a:defRPr>
            </a:lvl1pPr>
            <a:lvl2pPr>
              <a:defRPr sz="675" b="1">
                <a:solidFill>
                  <a:srgbClr val="F2B64A"/>
                </a:solidFill>
              </a:defRPr>
            </a:lvl2pPr>
            <a:lvl3pPr>
              <a:defRPr sz="675" b="1">
                <a:solidFill>
                  <a:srgbClr val="F2B64A"/>
                </a:solidFill>
              </a:defRPr>
            </a:lvl3pPr>
            <a:lvl4pPr>
              <a:defRPr sz="675" b="1">
                <a:solidFill>
                  <a:srgbClr val="F2B64A"/>
                </a:solidFill>
              </a:defRPr>
            </a:lvl4pPr>
            <a:lvl5pPr>
              <a:defRPr sz="675" b="1">
                <a:solidFill>
                  <a:srgbClr val="F2B64A"/>
                </a:solidFill>
              </a:defRPr>
            </a:lvl5pPr>
            <a:lvl6pPr>
              <a:defRPr sz="675" b="1">
                <a:solidFill>
                  <a:srgbClr val="F2B64A"/>
                </a:solidFill>
              </a:defRPr>
            </a:lvl6pPr>
            <a:lvl7pPr>
              <a:defRPr sz="675" b="1">
                <a:solidFill>
                  <a:srgbClr val="F2B64A"/>
                </a:solidFill>
              </a:defRPr>
            </a:lvl7pPr>
            <a:lvl8pPr>
              <a:defRPr sz="675" b="1">
                <a:solidFill>
                  <a:srgbClr val="F2B64A"/>
                </a:solidFill>
              </a:defRPr>
            </a:lvl8pPr>
            <a:lvl9pPr>
              <a:defRPr sz="675" b="1">
                <a:solidFill>
                  <a:srgbClr val="F2B64A"/>
                </a:solidFill>
              </a:defRPr>
            </a:lvl9pPr>
          </a:lstStyle>
          <a:p xmlns:a="http://schemas.openxmlformats.org/drawingml/2006/main">
            <a:pPr>
              <a:defRPr sz="675" b="1">
                <a:solidFill>
                  <a:srgbClr val="F2B64A"/>
                </a:solidFill>
              </a:defRPr>
            </a:pPr>
            <a:r>
              <a:rPr sz="675" b="1">
                <a:solidFill>
                  <a:srgbClr val="F2B64A"/>
                </a:solidFill>
              </a:rPr>
              <a:t>WORKAROUND ONLY</a:t>
            </a:r>
          </a:p>
        </p:txBody>
      </p:sp>
      <p:sp>
        <p:nvSpPr>
          <p:cNvPr id="19" name="">
            <a:extLst xmlns:a="http://schemas.openxmlformats.org/drawingml/2006/main">
              <a:ext uri="{FF2B5EF4-FFF2-40B4-BE49-F238E27FC236}">
                <a16:creationId xmlns:a16="http://schemas.microsoft.com/office/drawing/2014/main" id="{B373C6C1-5DAA-4DF5-A0AB-A51A5565D41D}"/>
              </a:ext>
            </a:extLst>
          </p:cNvPr>
          <p:cNvSpPr>
            <a:spLocks xmlns:a="http://schemas.openxmlformats.org/drawingml/2006/main" noGrp="1"/>
          </p:cNvSpPr>
          <p:nvPr/>
        </p:nvSpPr>
        <p:spPr>
          <a:xfrm xmlns:a="http://schemas.openxmlformats.org/drawingml/2006/main">
            <a:off x="6191250" y="2771775"/>
            <a:ext cx="25908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EB"/>
            </a:solidFill>
            <a:prstDash val="solid"/>
          </a:ln>
        </p:spPr>
      </p:sp>
      <p:sp>
        <p:nvSpPr>
          <p:cNvPr id="20" name="">
            <a:extLst xmlns:a="http://schemas.openxmlformats.org/drawingml/2006/main">
              <a:ext uri="{FF2B5EF4-FFF2-40B4-BE49-F238E27FC236}">
                <a16:creationId xmlns:a16="http://schemas.microsoft.com/office/drawing/2014/main" id="{0124DFCA-F944-4425-B280-7EBAF6216E87}"/>
              </a:ext>
            </a:extLst>
          </p:cNvPr>
          <p:cNvSpPr>
            <a:spLocks xmlns:a="http://schemas.openxmlformats.org/drawingml/2006/main" noGrp="1"/>
          </p:cNvSpPr>
          <p:nvPr/>
        </p:nvSpPr>
        <p:spPr>
          <a:xfrm xmlns:a="http://schemas.openxmlformats.org/drawingml/2006/main">
            <a:off x="6343650" y="29146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03</a:t>
            </a:r>
          </a:p>
        </p:txBody>
      </p:sp>
      <p:sp>
        <p:nvSpPr>
          <p:cNvPr id="21" name="">
            <a:extLst xmlns:a="http://schemas.openxmlformats.org/drawingml/2006/main">
              <a:ext uri="{FF2B5EF4-FFF2-40B4-BE49-F238E27FC236}">
                <a16:creationId xmlns:a16="http://schemas.microsoft.com/office/drawing/2014/main" id="{B6E5B3F0-6D4E-49D4-A5E7-9E4B515E4049}"/>
              </a:ext>
            </a:extLst>
          </p:cNvPr>
          <p:cNvSpPr>
            <a:spLocks xmlns:a="http://schemas.openxmlformats.org/drawingml/2006/main" noGrp="1"/>
          </p:cNvSpPr>
          <p:nvPr/>
        </p:nvSpPr>
        <p:spPr>
          <a:xfrm xmlns:a="http://schemas.openxmlformats.org/drawingml/2006/main">
            <a:off x="6343650" y="3190875"/>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92535"/>
                </a:solidFill>
              </a:defRPr>
            </a:defPPr>
            <a:lvl1pPr>
              <a:defRPr sz="1125" b="1">
                <a:solidFill>
                  <a:srgbClr val="192535"/>
                </a:solidFill>
              </a:defRPr>
            </a:lvl1pPr>
            <a:lvl2pPr>
              <a:defRPr sz="1125" b="1">
                <a:solidFill>
                  <a:srgbClr val="192535"/>
                </a:solidFill>
              </a:defRPr>
            </a:lvl2pPr>
            <a:lvl3pPr>
              <a:defRPr sz="1125" b="1">
                <a:solidFill>
                  <a:srgbClr val="192535"/>
                </a:solidFill>
              </a:defRPr>
            </a:lvl3pPr>
            <a:lvl4pPr>
              <a:defRPr sz="1125" b="1">
                <a:solidFill>
                  <a:srgbClr val="192535"/>
                </a:solidFill>
              </a:defRPr>
            </a:lvl4pPr>
            <a:lvl5pPr>
              <a:defRPr sz="1125" b="1">
                <a:solidFill>
                  <a:srgbClr val="192535"/>
                </a:solidFill>
              </a:defRPr>
            </a:lvl5pPr>
            <a:lvl6pPr>
              <a:defRPr sz="1125" b="1">
                <a:solidFill>
                  <a:srgbClr val="192535"/>
                </a:solidFill>
              </a:defRPr>
            </a:lvl6pPr>
            <a:lvl7pPr>
              <a:defRPr sz="1125" b="1">
                <a:solidFill>
                  <a:srgbClr val="192535"/>
                </a:solidFill>
              </a:defRPr>
            </a:lvl7pPr>
            <a:lvl8pPr>
              <a:defRPr sz="1125" b="1">
                <a:solidFill>
                  <a:srgbClr val="192535"/>
                </a:solidFill>
              </a:defRPr>
            </a:lvl8pPr>
            <a:lvl9pPr>
              <a:defRPr sz="1125" b="1">
                <a:solidFill>
                  <a:srgbClr val="192535"/>
                </a:solidFill>
              </a:defRPr>
            </a:lvl9pPr>
          </a:lstStyle>
          <a:p xmlns:a="http://schemas.openxmlformats.org/drawingml/2006/main">
            <a:pPr>
              <a:defRPr sz="1125" b="1">
                <a:solidFill>
                  <a:srgbClr val="192535"/>
                </a:solidFill>
              </a:defRPr>
            </a:pPr>
            <a:r>
              <a:rPr sz="1125" b="1">
                <a:solidFill>
                  <a:srgbClr val="192535"/>
                </a:solidFill>
              </a:rPr>
              <a:t>Reimbursements</a:t>
            </a:r>
          </a:p>
        </p:txBody>
      </p:sp>
      <p:sp>
        <p:nvSpPr>
          <p:cNvPr id="22" name="">
            <a:extLst xmlns:a="http://schemas.openxmlformats.org/drawingml/2006/main">
              <a:ext uri="{FF2B5EF4-FFF2-40B4-BE49-F238E27FC236}">
                <a16:creationId xmlns:a16="http://schemas.microsoft.com/office/drawing/2014/main" id="{EAD1DF31-668B-4165-9046-E9803CD4CFE3}"/>
              </a:ext>
            </a:extLst>
          </p:cNvPr>
          <p:cNvSpPr>
            <a:spLocks xmlns:a="http://schemas.openxmlformats.org/drawingml/2006/main" noGrp="1"/>
          </p:cNvSpPr>
          <p:nvPr/>
        </p:nvSpPr>
        <p:spPr>
          <a:xfrm xmlns:a="http://schemas.openxmlformats.org/drawingml/2006/main">
            <a:off x="6343650" y="34766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647285"/>
                </a:solidFill>
              </a:defRPr>
            </a:defPPr>
            <a:lvl1pPr>
              <a:defRPr sz="825" b="0">
                <a:solidFill>
                  <a:srgbClr val="647285"/>
                </a:solidFill>
              </a:defRPr>
            </a:lvl1pPr>
            <a:lvl2pPr>
              <a:defRPr sz="825" b="0">
                <a:solidFill>
                  <a:srgbClr val="647285"/>
                </a:solidFill>
              </a:defRPr>
            </a:lvl2pPr>
            <a:lvl3pPr>
              <a:defRPr sz="825" b="0">
                <a:solidFill>
                  <a:srgbClr val="647285"/>
                </a:solidFill>
              </a:defRPr>
            </a:lvl3pPr>
            <a:lvl4pPr>
              <a:defRPr sz="825" b="0">
                <a:solidFill>
                  <a:srgbClr val="647285"/>
                </a:solidFill>
              </a:defRPr>
            </a:lvl4pPr>
            <a:lvl5pPr>
              <a:defRPr sz="825" b="0">
                <a:solidFill>
                  <a:srgbClr val="647285"/>
                </a:solidFill>
              </a:defRPr>
            </a:lvl5pPr>
            <a:lvl6pPr>
              <a:defRPr sz="825" b="0">
                <a:solidFill>
                  <a:srgbClr val="647285"/>
                </a:solidFill>
              </a:defRPr>
            </a:lvl6pPr>
            <a:lvl7pPr>
              <a:defRPr sz="825" b="0">
                <a:solidFill>
                  <a:srgbClr val="647285"/>
                </a:solidFill>
              </a:defRPr>
            </a:lvl7pPr>
            <a:lvl8pPr>
              <a:defRPr sz="825" b="0">
                <a:solidFill>
                  <a:srgbClr val="647285"/>
                </a:solidFill>
              </a:defRPr>
            </a:lvl8pPr>
            <a:lvl9pPr>
              <a:defRPr sz="825" b="0">
                <a:solidFill>
                  <a:srgbClr val="647285"/>
                </a:solidFill>
              </a:defRPr>
            </a:lvl9pPr>
          </a:lstStyle>
          <a:p xmlns:a="http://schemas.openxmlformats.org/drawingml/2006/main">
            <a:pPr>
              <a:defRPr sz="825" b="0">
                <a:solidFill>
                  <a:srgbClr val="647285"/>
                </a:solidFill>
              </a:defRPr>
            </a:pPr>
            <a:r>
              <a:rPr sz="825" b="0">
                <a:solidFill>
                  <a:srgbClr val="647285"/>
                </a:solidFill>
              </a:rPr>
              <a:t>Processing state disabled selection.</a:t>
            </a:r>
          </a:p>
        </p:txBody>
      </p:sp>
      <p:sp>
        <p:nvSpPr>
          <p:cNvPr id="23" name="">
            <a:extLst xmlns:a="http://schemas.openxmlformats.org/drawingml/2006/main">
              <a:ext uri="{FF2B5EF4-FFF2-40B4-BE49-F238E27FC236}">
                <a16:creationId xmlns:a16="http://schemas.microsoft.com/office/drawing/2014/main" id="{008CAB9B-A1DE-4683-ABAF-D93B6CFBB5D3}"/>
              </a:ext>
            </a:extLst>
          </p:cNvPr>
          <p:cNvSpPr>
            <a:spLocks xmlns:a="http://schemas.openxmlformats.org/drawingml/2006/main" noGrp="1"/>
          </p:cNvSpPr>
          <p:nvPr/>
        </p:nvSpPr>
        <p:spPr>
          <a:xfrm xmlns:a="http://schemas.openxmlformats.org/drawingml/2006/main">
            <a:off x="6343650" y="3933825"/>
            <a:ext cx="228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 b="1">
                <a:solidFill>
                  <a:srgbClr val="CA6868"/>
                </a:solidFill>
              </a:defRPr>
            </a:defPPr>
            <a:lvl1pPr>
              <a:defRPr sz="675" b="1">
                <a:solidFill>
                  <a:srgbClr val="CA6868"/>
                </a:solidFill>
              </a:defRPr>
            </a:lvl1pPr>
            <a:lvl2pPr>
              <a:defRPr sz="675" b="1">
                <a:solidFill>
                  <a:srgbClr val="CA6868"/>
                </a:solidFill>
              </a:defRPr>
            </a:lvl2pPr>
            <a:lvl3pPr>
              <a:defRPr sz="675" b="1">
                <a:solidFill>
                  <a:srgbClr val="CA6868"/>
                </a:solidFill>
              </a:defRPr>
            </a:lvl3pPr>
            <a:lvl4pPr>
              <a:defRPr sz="675" b="1">
                <a:solidFill>
                  <a:srgbClr val="CA6868"/>
                </a:solidFill>
              </a:defRPr>
            </a:lvl4pPr>
            <a:lvl5pPr>
              <a:defRPr sz="675" b="1">
                <a:solidFill>
                  <a:srgbClr val="CA6868"/>
                </a:solidFill>
              </a:defRPr>
            </a:lvl5pPr>
            <a:lvl6pPr>
              <a:defRPr sz="675" b="1">
                <a:solidFill>
                  <a:srgbClr val="CA6868"/>
                </a:solidFill>
              </a:defRPr>
            </a:lvl6pPr>
            <a:lvl7pPr>
              <a:defRPr sz="675" b="1">
                <a:solidFill>
                  <a:srgbClr val="CA6868"/>
                </a:solidFill>
              </a:defRPr>
            </a:lvl7pPr>
            <a:lvl8pPr>
              <a:defRPr sz="675" b="1">
                <a:solidFill>
                  <a:srgbClr val="CA6868"/>
                </a:solidFill>
              </a:defRPr>
            </a:lvl8pPr>
            <a:lvl9pPr>
              <a:defRPr sz="675" b="1">
                <a:solidFill>
                  <a:srgbClr val="CA6868"/>
                </a:solidFill>
              </a:defRPr>
            </a:lvl9pPr>
          </a:lstStyle>
          <a:p xmlns:a="http://schemas.openxmlformats.org/drawingml/2006/main">
            <a:pPr>
              <a:defRPr sz="675" b="1">
                <a:solidFill>
                  <a:srgbClr val="CA6868"/>
                </a:solidFill>
              </a:defRPr>
            </a:pPr>
            <a:r>
              <a:rPr sz="675" b="1">
                <a:solidFill>
                  <a:srgbClr val="CA6868"/>
                </a:solidFill>
              </a:rPr>
              <a:t>STATUS UNCONFIRMED</a:t>
            </a:r>
          </a:p>
        </p:txBody>
      </p:sp>
      <p:sp>
        <p:nvSpPr>
          <p:cNvPr id="24" name="">
            <a:extLst xmlns:a="http://schemas.openxmlformats.org/drawingml/2006/main">
              <a:ext uri="{FF2B5EF4-FFF2-40B4-BE49-F238E27FC236}">
                <a16:creationId xmlns:a16="http://schemas.microsoft.com/office/drawing/2014/main" id="{A666CE22-CCC1-4597-BCB9-AAC33FA03147}"/>
              </a:ext>
            </a:extLst>
          </p:cNvPr>
          <p:cNvSpPr>
            <a:spLocks xmlns:a="http://schemas.openxmlformats.org/drawingml/2006/main" noGrp="1"/>
          </p:cNvSpPr>
          <p:nvPr/>
        </p:nvSpPr>
        <p:spPr>
          <a:xfrm xmlns:a="http://schemas.openxmlformats.org/drawingml/2006/main">
            <a:off x="8982075" y="2771775"/>
            <a:ext cx="25908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1E7EB"/>
            </a:solidFill>
            <a:prstDash val="solid"/>
          </a:ln>
        </p:spPr>
      </p:sp>
      <p:sp>
        <p:nvSpPr>
          <p:cNvPr id="25" name="">
            <a:extLst xmlns:a="http://schemas.openxmlformats.org/drawingml/2006/main">
              <a:ext uri="{FF2B5EF4-FFF2-40B4-BE49-F238E27FC236}">
                <a16:creationId xmlns:a16="http://schemas.microsoft.com/office/drawing/2014/main" id="{D6C66D55-68F7-44A2-BDC2-D43852887590}"/>
              </a:ext>
            </a:extLst>
          </p:cNvPr>
          <p:cNvSpPr>
            <a:spLocks xmlns:a="http://schemas.openxmlformats.org/drawingml/2006/main" noGrp="1"/>
          </p:cNvSpPr>
          <p:nvPr/>
        </p:nvSpPr>
        <p:spPr>
          <a:xfrm xmlns:a="http://schemas.openxmlformats.org/drawingml/2006/main">
            <a:off x="9134475" y="29146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04</a:t>
            </a:r>
          </a:p>
        </p:txBody>
      </p:sp>
      <p:sp>
        <p:nvSpPr>
          <p:cNvPr id="26" name="">
            <a:extLst xmlns:a="http://schemas.openxmlformats.org/drawingml/2006/main">
              <a:ext uri="{FF2B5EF4-FFF2-40B4-BE49-F238E27FC236}">
                <a16:creationId xmlns:a16="http://schemas.microsoft.com/office/drawing/2014/main" id="{07AB0622-2475-4088-964B-59C772861D3C}"/>
              </a:ext>
            </a:extLst>
          </p:cNvPr>
          <p:cNvSpPr>
            <a:spLocks xmlns:a="http://schemas.openxmlformats.org/drawingml/2006/main" noGrp="1"/>
          </p:cNvSpPr>
          <p:nvPr/>
        </p:nvSpPr>
        <p:spPr>
          <a:xfrm xmlns:a="http://schemas.openxmlformats.org/drawingml/2006/main">
            <a:off x="9134475" y="3190875"/>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92535"/>
                </a:solidFill>
              </a:defRPr>
            </a:defPPr>
            <a:lvl1pPr>
              <a:defRPr sz="1125" b="1">
                <a:solidFill>
                  <a:srgbClr val="192535"/>
                </a:solidFill>
              </a:defRPr>
            </a:lvl1pPr>
            <a:lvl2pPr>
              <a:defRPr sz="1125" b="1">
                <a:solidFill>
                  <a:srgbClr val="192535"/>
                </a:solidFill>
              </a:defRPr>
            </a:lvl2pPr>
            <a:lvl3pPr>
              <a:defRPr sz="1125" b="1">
                <a:solidFill>
                  <a:srgbClr val="192535"/>
                </a:solidFill>
              </a:defRPr>
            </a:lvl3pPr>
            <a:lvl4pPr>
              <a:defRPr sz="1125" b="1">
                <a:solidFill>
                  <a:srgbClr val="192535"/>
                </a:solidFill>
              </a:defRPr>
            </a:lvl4pPr>
            <a:lvl5pPr>
              <a:defRPr sz="1125" b="1">
                <a:solidFill>
                  <a:srgbClr val="192535"/>
                </a:solidFill>
              </a:defRPr>
            </a:lvl5pPr>
            <a:lvl6pPr>
              <a:defRPr sz="1125" b="1">
                <a:solidFill>
                  <a:srgbClr val="192535"/>
                </a:solidFill>
              </a:defRPr>
            </a:lvl6pPr>
            <a:lvl7pPr>
              <a:defRPr sz="1125" b="1">
                <a:solidFill>
                  <a:srgbClr val="192535"/>
                </a:solidFill>
              </a:defRPr>
            </a:lvl7pPr>
            <a:lvl8pPr>
              <a:defRPr sz="1125" b="1">
                <a:solidFill>
                  <a:srgbClr val="192535"/>
                </a:solidFill>
              </a:defRPr>
            </a:lvl8pPr>
            <a:lvl9pPr>
              <a:defRPr sz="1125" b="1">
                <a:solidFill>
                  <a:srgbClr val="192535"/>
                </a:solidFill>
              </a:defRPr>
            </a:lvl9pPr>
          </a:lstStyle>
          <a:p xmlns:a="http://schemas.openxmlformats.org/drawingml/2006/main">
            <a:pPr>
              <a:defRPr sz="1125" b="1">
                <a:solidFill>
                  <a:srgbClr val="192535"/>
                </a:solidFill>
              </a:defRPr>
            </a:pPr>
            <a:r>
              <a:rPr sz="1125" b="1">
                <a:solidFill>
                  <a:srgbClr val="192535"/>
                </a:solidFill>
              </a:rPr>
              <a:t>Mark as paid</a:t>
            </a:r>
          </a:p>
        </p:txBody>
      </p:sp>
      <p:sp>
        <p:nvSpPr>
          <p:cNvPr id="27" name="">
            <a:extLst xmlns:a="http://schemas.openxmlformats.org/drawingml/2006/main">
              <a:ext uri="{FF2B5EF4-FFF2-40B4-BE49-F238E27FC236}">
                <a16:creationId xmlns:a16="http://schemas.microsoft.com/office/drawing/2014/main" id="{9ACB0E75-3361-4C86-8D7D-E62ACE3598C3}"/>
              </a:ext>
            </a:extLst>
          </p:cNvPr>
          <p:cNvSpPr>
            <a:spLocks xmlns:a="http://schemas.openxmlformats.org/drawingml/2006/main" noGrp="1"/>
          </p:cNvSpPr>
          <p:nvPr/>
        </p:nvSpPr>
        <p:spPr>
          <a:xfrm xmlns:a="http://schemas.openxmlformats.org/drawingml/2006/main">
            <a:off x="9134475" y="347662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0">
                <a:solidFill>
                  <a:srgbClr val="647285"/>
                </a:solidFill>
              </a:defRPr>
            </a:defPPr>
            <a:lvl1pPr>
              <a:defRPr sz="825" b="0">
                <a:solidFill>
                  <a:srgbClr val="647285"/>
                </a:solidFill>
              </a:defRPr>
            </a:lvl1pPr>
            <a:lvl2pPr>
              <a:defRPr sz="825" b="0">
                <a:solidFill>
                  <a:srgbClr val="647285"/>
                </a:solidFill>
              </a:defRPr>
            </a:lvl2pPr>
            <a:lvl3pPr>
              <a:defRPr sz="825" b="0">
                <a:solidFill>
                  <a:srgbClr val="647285"/>
                </a:solidFill>
              </a:defRPr>
            </a:lvl3pPr>
            <a:lvl4pPr>
              <a:defRPr sz="825" b="0">
                <a:solidFill>
                  <a:srgbClr val="647285"/>
                </a:solidFill>
              </a:defRPr>
            </a:lvl4pPr>
            <a:lvl5pPr>
              <a:defRPr sz="825" b="0">
                <a:solidFill>
                  <a:srgbClr val="647285"/>
                </a:solidFill>
              </a:defRPr>
            </a:lvl5pPr>
            <a:lvl6pPr>
              <a:defRPr sz="825" b="0">
                <a:solidFill>
                  <a:srgbClr val="647285"/>
                </a:solidFill>
              </a:defRPr>
            </a:lvl6pPr>
            <a:lvl7pPr>
              <a:defRPr sz="825" b="0">
                <a:solidFill>
                  <a:srgbClr val="647285"/>
                </a:solidFill>
              </a:defRPr>
            </a:lvl7pPr>
            <a:lvl8pPr>
              <a:defRPr sz="825" b="0">
                <a:solidFill>
                  <a:srgbClr val="647285"/>
                </a:solidFill>
              </a:defRPr>
            </a:lvl8pPr>
            <a:lvl9pPr>
              <a:defRPr sz="825" b="0">
                <a:solidFill>
                  <a:srgbClr val="647285"/>
                </a:solidFill>
              </a:defRPr>
            </a:lvl9pPr>
          </a:lstStyle>
          <a:p xmlns:a="http://schemas.openxmlformats.org/drawingml/2006/main">
            <a:pPr>
              <a:defRPr sz="825" b="0">
                <a:solidFill>
                  <a:srgbClr val="647285"/>
                </a:solidFill>
              </a:defRPr>
            </a:pPr>
            <a:r>
              <a:rPr sz="825" b="0">
                <a:solidFill>
                  <a:srgbClr val="647285"/>
                </a:solidFill>
              </a:rPr>
              <a:t>Previous amount carried into the next payment.</a:t>
            </a:r>
          </a:p>
        </p:txBody>
      </p:sp>
      <p:sp>
        <p:nvSpPr>
          <p:cNvPr id="28" name="">
            <a:extLst xmlns:a="http://schemas.openxmlformats.org/drawingml/2006/main">
              <a:ext uri="{FF2B5EF4-FFF2-40B4-BE49-F238E27FC236}">
                <a16:creationId xmlns:a16="http://schemas.microsoft.com/office/drawing/2014/main" id="{79EE4392-C855-47BF-AD41-A0D2553BE33C}"/>
              </a:ext>
            </a:extLst>
          </p:cNvPr>
          <p:cNvSpPr>
            <a:spLocks xmlns:a="http://schemas.openxmlformats.org/drawingml/2006/main" noGrp="1"/>
          </p:cNvSpPr>
          <p:nvPr/>
        </p:nvSpPr>
        <p:spPr>
          <a:xfrm xmlns:a="http://schemas.openxmlformats.org/drawingml/2006/main">
            <a:off x="9134475" y="3933825"/>
            <a:ext cx="228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 b="1">
                <a:solidFill>
                  <a:srgbClr val="CA6868"/>
                </a:solidFill>
              </a:defRPr>
            </a:defPPr>
            <a:lvl1pPr>
              <a:defRPr sz="675" b="1">
                <a:solidFill>
                  <a:srgbClr val="CA6868"/>
                </a:solidFill>
              </a:defRPr>
            </a:lvl1pPr>
            <a:lvl2pPr>
              <a:defRPr sz="675" b="1">
                <a:solidFill>
                  <a:srgbClr val="CA6868"/>
                </a:solidFill>
              </a:defRPr>
            </a:lvl2pPr>
            <a:lvl3pPr>
              <a:defRPr sz="675" b="1">
                <a:solidFill>
                  <a:srgbClr val="CA6868"/>
                </a:solidFill>
              </a:defRPr>
            </a:lvl3pPr>
            <a:lvl4pPr>
              <a:defRPr sz="675" b="1">
                <a:solidFill>
                  <a:srgbClr val="CA6868"/>
                </a:solidFill>
              </a:defRPr>
            </a:lvl4pPr>
            <a:lvl5pPr>
              <a:defRPr sz="675" b="1">
                <a:solidFill>
                  <a:srgbClr val="CA6868"/>
                </a:solidFill>
              </a:defRPr>
            </a:lvl5pPr>
            <a:lvl6pPr>
              <a:defRPr sz="675" b="1">
                <a:solidFill>
                  <a:srgbClr val="CA6868"/>
                </a:solidFill>
              </a:defRPr>
            </a:lvl6pPr>
            <a:lvl7pPr>
              <a:defRPr sz="675" b="1">
                <a:solidFill>
                  <a:srgbClr val="CA6868"/>
                </a:solidFill>
              </a:defRPr>
            </a:lvl7pPr>
            <a:lvl8pPr>
              <a:defRPr sz="675" b="1">
                <a:solidFill>
                  <a:srgbClr val="CA6868"/>
                </a:solidFill>
              </a:defRPr>
            </a:lvl8pPr>
            <a:lvl9pPr>
              <a:defRPr sz="675" b="1">
                <a:solidFill>
                  <a:srgbClr val="CA6868"/>
                </a:solidFill>
              </a:defRPr>
            </a:lvl9pPr>
          </a:lstStyle>
          <a:p xmlns:a="http://schemas.openxmlformats.org/drawingml/2006/main">
            <a:pPr>
              <a:defRPr sz="675" b="1">
                <a:solidFill>
                  <a:srgbClr val="CA6868"/>
                </a:solidFill>
              </a:defRPr>
            </a:pPr>
            <a:r>
              <a:rPr sz="675" b="1">
                <a:solidFill>
                  <a:srgbClr val="CA6868"/>
                </a:solidFill>
              </a:rPr>
              <a:t>REFRESH DEFECT REPORTED</a:t>
            </a:r>
          </a:p>
        </p:txBody>
      </p:sp>
      <p:sp>
        <p:nvSpPr>
          <p:cNvPr id="29" name="">
            <a:extLst xmlns:a="http://schemas.openxmlformats.org/drawingml/2006/main">
              <a:ext uri="{FF2B5EF4-FFF2-40B4-BE49-F238E27FC236}">
                <a16:creationId xmlns:a16="http://schemas.microsoft.com/office/drawing/2014/main" id="{FC0AD4A6-3F3B-4501-9A62-2CB645D1A90A}"/>
              </a:ext>
            </a:extLst>
          </p:cNvPr>
          <p:cNvSpPr>
            <a:spLocks xmlns:a="http://schemas.openxmlformats.org/drawingml/2006/main" noGrp="1"/>
          </p:cNvSpPr>
          <p:nvPr/>
        </p:nvSpPr>
        <p:spPr>
          <a:xfrm xmlns:a="http://schemas.openxmlformats.org/drawingml/2006/main">
            <a:off x="609600" y="4543425"/>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ROUTING DECISION</a:t>
            </a:r>
          </a:p>
        </p:txBody>
      </p:sp>
      <p:sp>
        <p:nvSpPr>
          <p:cNvPr id="30" name="">
            <a:extLst xmlns:a="http://schemas.openxmlformats.org/drawingml/2006/main">
              <a:ext uri="{FF2B5EF4-FFF2-40B4-BE49-F238E27FC236}">
                <a16:creationId xmlns:a16="http://schemas.microsoft.com/office/drawing/2014/main" id="{865C3AAA-43B1-411B-9190-A882ACCD8A01}"/>
              </a:ext>
            </a:extLst>
          </p:cNvPr>
          <p:cNvSpPr>
            <a:spLocks xmlns:a="http://schemas.openxmlformats.org/drawingml/2006/main" noGrp="1"/>
          </p:cNvSpPr>
          <p:nvPr/>
        </p:nvSpPr>
        <p:spPr>
          <a:xfrm xmlns:a="http://schemas.openxmlformats.org/drawingml/2006/main">
            <a:off x="609600" y="4838700"/>
            <a:ext cx="5191125"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9525">
            <a:solidFill>
              <a:srgbClr val="E1E7EB"/>
            </a:solidFill>
            <a:prstDash val="solid"/>
          </a:ln>
        </p:spPr>
      </p:sp>
      <p:sp>
        <p:nvSpPr>
          <p:cNvPr id="31" name="">
            <a:extLst xmlns:a="http://schemas.openxmlformats.org/drawingml/2006/main">
              <a:ext uri="{FF2B5EF4-FFF2-40B4-BE49-F238E27FC236}">
                <a16:creationId xmlns:a16="http://schemas.microsoft.com/office/drawing/2014/main" id="{4B92DD05-2EFE-4D6C-8093-84C6CAEAF1D6}"/>
              </a:ext>
            </a:extLst>
          </p:cNvPr>
          <p:cNvSpPr>
            <a:spLocks xmlns:a="http://schemas.openxmlformats.org/drawingml/2006/main" noGrp="1"/>
          </p:cNvSpPr>
          <p:nvPr/>
        </p:nvSpPr>
        <p:spPr>
          <a:xfrm xmlns:a="http://schemas.openxmlformats.org/drawingml/2006/main">
            <a:off x="609600" y="4838700"/>
            <a:ext cx="47625" cy="1181100"/>
          </a:xfrm>
          <a:prstGeom xmlns:a="http://schemas.openxmlformats.org/drawingml/2006/main" prst="roundRect">
            <a:avLst>
              <a:gd name="adj" fmla="val 50000"/>
            </a:avLst>
          </a:prstGeom>
          <a:solidFill xmlns:a="http://schemas.openxmlformats.org/drawingml/2006/main">
            <a:srgbClr val="F2B64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CB4E30D-50E4-45E6-B5A7-52C473691F9F}"/>
              </a:ext>
            </a:extLst>
          </p:cNvPr>
          <p:cNvSpPr>
            <a:spLocks xmlns:a="http://schemas.openxmlformats.org/drawingml/2006/main" noGrp="1"/>
          </p:cNvSpPr>
          <p:nvPr/>
        </p:nvSpPr>
        <p:spPr>
          <a:xfrm xmlns:a="http://schemas.openxmlformats.org/drawingml/2006/main">
            <a:off x="800100" y="4981575"/>
            <a:ext cx="481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MANUAL ROUTE: CUSTOMER FOLLOW-UP</a:t>
            </a:r>
          </a:p>
        </p:txBody>
      </p:sp>
      <p:sp>
        <p:nvSpPr>
          <p:cNvPr id="33" name="">
            <a:extLst xmlns:a="http://schemas.openxmlformats.org/drawingml/2006/main">
              <a:ext uri="{FF2B5EF4-FFF2-40B4-BE49-F238E27FC236}">
                <a16:creationId xmlns:a16="http://schemas.microsoft.com/office/drawing/2014/main" id="{13CE63F0-6549-4DB2-AD75-00661410AC39}"/>
              </a:ext>
            </a:extLst>
          </p:cNvPr>
          <p:cNvSpPr>
            <a:spLocks xmlns:a="http://schemas.openxmlformats.org/drawingml/2006/main" noGrp="1"/>
          </p:cNvSpPr>
          <p:nvPr/>
        </p:nvSpPr>
        <p:spPr>
          <a:xfrm xmlns:a="http://schemas.openxmlformats.org/drawingml/2006/main">
            <a:off x="800100" y="5305425"/>
            <a:ext cx="4810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Override reason: keep an active customer response visible while the product investigation remains open. Human review stays in the analysis and is available as an additional route.</a:t>
            </a:r>
          </a:p>
        </p:txBody>
      </p:sp>
      <p:sp>
        <p:nvSpPr>
          <p:cNvPr id="34" name="">
            <a:extLst xmlns:a="http://schemas.openxmlformats.org/drawingml/2006/main">
              <a:ext uri="{FF2B5EF4-FFF2-40B4-BE49-F238E27FC236}">
                <a16:creationId xmlns:a16="http://schemas.microsoft.com/office/drawing/2014/main" id="{CCF21F46-22EF-4F96-A499-D382873A81F8}"/>
              </a:ext>
            </a:extLst>
          </p:cNvPr>
          <p:cNvSpPr>
            <a:spLocks xmlns:a="http://schemas.openxmlformats.org/drawingml/2006/main" noGrp="1"/>
          </p:cNvSpPr>
          <p:nvPr/>
        </p:nvSpPr>
        <p:spPr>
          <a:xfrm xmlns:a="http://schemas.openxmlformats.org/drawingml/2006/main">
            <a:off x="6191250" y="4543425"/>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SOURCE / ANALYSIS / DECISION</a:t>
            </a:r>
          </a:p>
        </p:txBody>
      </p:sp>
      <p:sp>
        <p:nvSpPr>
          <p:cNvPr id="35" name="">
            <a:extLst xmlns:a="http://schemas.openxmlformats.org/drawingml/2006/main">
              <a:ext uri="{FF2B5EF4-FFF2-40B4-BE49-F238E27FC236}">
                <a16:creationId xmlns:a16="http://schemas.microsoft.com/office/drawing/2014/main" id="{79C2B8C6-B53C-47E2-BF8C-34C0C0339742}"/>
              </a:ext>
            </a:extLst>
          </p:cNvPr>
          <p:cNvSpPr>
            <a:spLocks xmlns:a="http://schemas.openxmlformats.org/drawingml/2006/main" noGrp="1"/>
          </p:cNvSpPr>
          <p:nvPr/>
        </p:nvSpPr>
        <p:spPr>
          <a:xfrm xmlns:a="http://schemas.openxmlformats.org/drawingml/2006/main">
            <a:off x="6191250" y="4838700"/>
            <a:ext cx="53911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9525">
            <a:solidFill>
              <a:srgbClr val="E1E7EB"/>
            </a:solidFill>
            <a:prstDash val="solid"/>
          </a:ln>
        </p:spPr>
      </p:sp>
      <p:sp>
        <p:nvSpPr>
          <p:cNvPr id="36" name="">
            <a:extLst xmlns:a="http://schemas.openxmlformats.org/drawingml/2006/main">
              <a:ext uri="{FF2B5EF4-FFF2-40B4-BE49-F238E27FC236}">
                <a16:creationId xmlns:a16="http://schemas.microsoft.com/office/drawing/2014/main" id="{C46CD730-1BA5-438F-AD92-D16EBA20A824}"/>
              </a:ext>
            </a:extLst>
          </p:cNvPr>
          <p:cNvSpPr>
            <a:spLocks xmlns:a="http://schemas.openxmlformats.org/drawingml/2006/main" noGrp="1"/>
          </p:cNvSpPr>
          <p:nvPr/>
        </p:nvSpPr>
        <p:spPr>
          <a:xfrm xmlns:a="http://schemas.openxmlformats.org/drawingml/2006/main">
            <a:off x="6191250" y="4838700"/>
            <a:ext cx="47625" cy="1181100"/>
          </a:xfrm>
          <a:prstGeom xmlns:a="http://schemas.openxmlformats.org/drawingml/2006/main" prst="roundRect">
            <a:avLst>
              <a:gd name="adj" fmla="val 50000"/>
            </a:avLst>
          </a:prstGeom>
          <a:solidFill xmlns:a="http://schemas.openxmlformats.org/drawingml/2006/main">
            <a:srgbClr val="647BC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562441B-9EC5-4650-8BA8-E82C2D0F089C}"/>
              </a:ext>
            </a:extLst>
          </p:cNvPr>
          <p:cNvSpPr>
            <a:spLocks xmlns:a="http://schemas.openxmlformats.org/drawingml/2006/main" noGrp="1"/>
          </p:cNvSpPr>
          <p:nvPr/>
        </p:nvSpPr>
        <p:spPr>
          <a:xfrm xmlns:a="http://schemas.openxmlformats.org/drawingml/2006/main">
            <a:off x="6381750" y="4981575"/>
            <a:ext cx="5010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THREE SEPARATE LAYERS</a:t>
            </a:r>
          </a:p>
        </p:txBody>
      </p:sp>
      <p:sp>
        <p:nvSpPr>
          <p:cNvPr id="38" name="">
            <a:extLst xmlns:a="http://schemas.openxmlformats.org/drawingml/2006/main">
              <a:ext uri="{FF2B5EF4-FFF2-40B4-BE49-F238E27FC236}">
                <a16:creationId xmlns:a16="http://schemas.microsoft.com/office/drawing/2014/main" id="{FEA5FDA3-FD61-463C-AF1B-E7142B779F8D}"/>
              </a:ext>
            </a:extLst>
          </p:cNvPr>
          <p:cNvSpPr>
            <a:spLocks xmlns:a="http://schemas.openxmlformats.org/drawingml/2006/main" noGrp="1"/>
          </p:cNvSpPr>
          <p:nvPr/>
        </p:nvSpPr>
        <p:spPr>
          <a:xfrm xmlns:a="http://schemas.openxmlformats.org/drawingml/2006/main">
            <a:off x="6381750" y="5305425"/>
            <a:ext cx="5010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r2 replaces source payload and transcript. Analysis freshness changes independently. The saved route and reason persist through later imports and refresh.</a:t>
            </a:r>
          </a:p>
        </p:txBody>
      </p:sp>
    </p:spTree>
    <p:extLst>
      <p:ext uri="{BB962C8B-B14F-4D97-AF65-F5344CB8AC3E}">
        <p14:creationId xmlns:p14="http://schemas.microsoft.com/office/powerpoint/2010/main" val="935940242"/>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CD7F0E0-9297-435C-B34F-F532FFECD54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D9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233E2E-6B40-4DAB-AF9E-CD48BA32502F}"/>
              </a:ext>
            </a:extLst>
          </p:cNvPr>
          <p:cNvSpPr>
            <a:spLocks xmlns:a="http://schemas.openxmlformats.org/drawingml/2006/main" noGrp="1"/>
          </p:cNvSpPr>
          <p:nvPr/>
        </p:nvSpPr>
        <p:spPr>
          <a:xfrm xmlns:a="http://schemas.openxmlformats.org/drawingml/2006/main">
            <a:off x="609600" y="3238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04  /  VERIFICATION &amp; TRADE-OFFS</a:t>
            </a:r>
          </a:p>
        </p:txBody>
      </p:sp>
      <p:sp>
        <p:nvSpPr>
          <p:cNvPr id="3" name="">
            <a:extLst xmlns:a="http://schemas.openxmlformats.org/drawingml/2006/main">
              <a:ext uri="{FF2B5EF4-FFF2-40B4-BE49-F238E27FC236}">
                <a16:creationId xmlns:a16="http://schemas.microsoft.com/office/drawing/2014/main" id="{7DCCB95D-E4C0-47B8-8030-81DA45101664}"/>
              </a:ext>
            </a:extLst>
          </p:cNvPr>
          <p:cNvSpPr>
            <a:spLocks xmlns:a="http://schemas.openxmlformats.org/drawingml/2006/main" noGrp="1"/>
          </p:cNvSpPr>
          <p:nvPr/>
        </p:nvSpPr>
        <p:spPr>
          <a:xfrm xmlns:a="http://schemas.openxmlformats.org/drawingml/2006/main">
            <a:off x="609600" y="60007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92535"/>
                </a:solidFill>
              </a:defRPr>
            </a:defPPr>
            <a:lvl1pPr>
              <a:defRPr sz="2400" b="1">
                <a:solidFill>
                  <a:srgbClr val="192535"/>
                </a:solidFill>
              </a:defRPr>
            </a:lvl1pPr>
            <a:lvl2pPr>
              <a:defRPr sz="2400" b="1">
                <a:solidFill>
                  <a:srgbClr val="192535"/>
                </a:solidFill>
              </a:defRPr>
            </a:lvl2pPr>
            <a:lvl3pPr>
              <a:defRPr sz="2400" b="1">
                <a:solidFill>
                  <a:srgbClr val="192535"/>
                </a:solidFill>
              </a:defRPr>
            </a:lvl3pPr>
            <a:lvl4pPr>
              <a:defRPr sz="2400" b="1">
                <a:solidFill>
                  <a:srgbClr val="192535"/>
                </a:solidFill>
              </a:defRPr>
            </a:lvl4pPr>
            <a:lvl5pPr>
              <a:defRPr sz="2400" b="1">
                <a:solidFill>
                  <a:srgbClr val="192535"/>
                </a:solidFill>
              </a:defRPr>
            </a:lvl5pPr>
            <a:lvl6pPr>
              <a:defRPr sz="2400" b="1">
                <a:solidFill>
                  <a:srgbClr val="192535"/>
                </a:solidFill>
              </a:defRPr>
            </a:lvl6pPr>
            <a:lvl7pPr>
              <a:defRPr sz="2400" b="1">
                <a:solidFill>
                  <a:srgbClr val="192535"/>
                </a:solidFill>
              </a:defRPr>
            </a:lvl7pPr>
            <a:lvl8pPr>
              <a:defRPr sz="2400" b="1">
                <a:solidFill>
                  <a:srgbClr val="192535"/>
                </a:solidFill>
              </a:defRPr>
            </a:lvl8pPr>
            <a:lvl9pPr>
              <a:defRPr sz="2400" b="1">
                <a:solidFill>
                  <a:srgbClr val="192535"/>
                </a:solidFill>
              </a:defRPr>
            </a:lvl9pPr>
          </a:lstStyle>
          <a:p xmlns:a="http://schemas.openxmlformats.org/drawingml/2006/main">
            <a:pPr>
              <a:defRPr sz="2400" b="1">
                <a:solidFill>
                  <a:srgbClr val="192535"/>
                </a:solidFill>
              </a:defRPr>
            </a:pPr>
            <a:r>
              <a:rPr sz="2400" b="1">
                <a:solidFill>
                  <a:srgbClr val="192535"/>
                </a:solidFill>
              </a:rPr>
              <a:t>A reproducible replay, with uncertainty made visible</a:t>
            </a:r>
          </a:p>
        </p:txBody>
      </p:sp>
      <p:sp>
        <p:nvSpPr>
          <p:cNvPr id="4" name="">
            <a:extLst xmlns:a="http://schemas.openxmlformats.org/drawingml/2006/main">
              <a:ext uri="{FF2B5EF4-FFF2-40B4-BE49-F238E27FC236}">
                <a16:creationId xmlns:a16="http://schemas.microsoft.com/office/drawing/2014/main" id="{06569B63-E860-47D2-BB2D-4DBD76DD687E}"/>
              </a:ext>
            </a:extLst>
          </p:cNvPr>
          <p:cNvSpPr>
            <a:spLocks xmlns:a="http://schemas.openxmlformats.org/drawingml/2006/main" noGrp="1"/>
          </p:cNvSpPr>
          <p:nvPr/>
        </p:nvSpPr>
        <p:spPr>
          <a:xfrm xmlns:a="http://schemas.openxmlformats.org/drawingml/2006/main">
            <a:off x="609600" y="6457950"/>
            <a:ext cx="762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SIGNAL  /  REVENUE INTELLIGENCE INBOX  /  PRIVATE ASSESSMENT SAMPLE</a:t>
            </a:r>
          </a:p>
        </p:txBody>
      </p:sp>
      <p:sp>
        <p:nvSpPr>
          <p:cNvPr id="5" name="">
            <a:extLst xmlns:a="http://schemas.openxmlformats.org/drawingml/2006/main">
              <a:ext uri="{FF2B5EF4-FFF2-40B4-BE49-F238E27FC236}">
                <a16:creationId xmlns:a16="http://schemas.microsoft.com/office/drawing/2014/main" id="{850F8F14-EEA7-409D-8E61-483911EDA5DD}"/>
              </a:ext>
            </a:extLst>
          </p:cNvPr>
          <p:cNvSpPr>
            <a:spLocks xmlns:a="http://schemas.openxmlformats.org/drawingml/2006/main" noGrp="1"/>
          </p:cNvSpPr>
          <p:nvPr/>
        </p:nvSpPr>
        <p:spPr>
          <a:xfrm xmlns:a="http://schemas.openxmlformats.org/drawingml/2006/main">
            <a:off x="11258550" y="6457950"/>
            <a:ext cx="381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1">
                <a:solidFill>
                  <a:srgbClr val="647285"/>
                </a:solidFill>
              </a:defRPr>
            </a:defPPr>
            <a:lvl1pPr>
              <a:defRPr sz="750" b="1">
                <a:solidFill>
                  <a:srgbClr val="647285"/>
                </a:solidFill>
              </a:defRPr>
            </a:lvl1pPr>
            <a:lvl2pPr>
              <a:defRPr sz="750" b="1">
                <a:solidFill>
                  <a:srgbClr val="647285"/>
                </a:solidFill>
              </a:defRPr>
            </a:lvl2pPr>
            <a:lvl3pPr>
              <a:defRPr sz="750" b="1">
                <a:solidFill>
                  <a:srgbClr val="647285"/>
                </a:solidFill>
              </a:defRPr>
            </a:lvl3pPr>
            <a:lvl4pPr>
              <a:defRPr sz="750" b="1">
                <a:solidFill>
                  <a:srgbClr val="647285"/>
                </a:solidFill>
              </a:defRPr>
            </a:lvl4pPr>
            <a:lvl5pPr>
              <a:defRPr sz="750" b="1">
                <a:solidFill>
                  <a:srgbClr val="647285"/>
                </a:solidFill>
              </a:defRPr>
            </a:lvl5pPr>
            <a:lvl6pPr>
              <a:defRPr sz="750" b="1">
                <a:solidFill>
                  <a:srgbClr val="647285"/>
                </a:solidFill>
              </a:defRPr>
            </a:lvl6pPr>
            <a:lvl7pPr>
              <a:defRPr sz="750" b="1">
                <a:solidFill>
                  <a:srgbClr val="647285"/>
                </a:solidFill>
              </a:defRPr>
            </a:lvl7pPr>
            <a:lvl8pPr>
              <a:defRPr sz="750" b="1">
                <a:solidFill>
                  <a:srgbClr val="647285"/>
                </a:solidFill>
              </a:defRPr>
            </a:lvl8pPr>
            <a:lvl9pPr>
              <a:defRPr sz="750" b="1">
                <a:solidFill>
                  <a:srgbClr val="647285"/>
                </a:solidFill>
              </a:defRPr>
            </a:lvl9pPr>
          </a:lstStyle>
          <a:p xmlns:a="http://schemas.openxmlformats.org/drawingml/2006/main">
            <a:pPr>
              <a:defRPr sz="750" b="1">
                <a:solidFill>
                  <a:srgbClr val="647285"/>
                </a:solidFill>
              </a:defRPr>
            </a:pPr>
            <a:r>
              <a:rPr sz="750" b="1">
                <a:solidFill>
                  <a:srgbClr val="647285"/>
                </a:solidFill>
              </a:rPr>
              <a:t>05</a:t>
            </a:r>
          </a:p>
        </p:txBody>
      </p:sp>
      <p:sp>
        <p:nvSpPr>
          <p:cNvPr id="6" name="">
            <a:extLst xmlns:a="http://schemas.openxmlformats.org/drawingml/2006/main">
              <a:ext uri="{FF2B5EF4-FFF2-40B4-BE49-F238E27FC236}">
                <a16:creationId xmlns:a16="http://schemas.microsoft.com/office/drawing/2014/main" id="{25371CD9-4D0D-4C53-9603-B29146C6CF5C}"/>
              </a:ext>
            </a:extLst>
          </p:cNvPr>
          <p:cNvSpPr>
            <a:spLocks xmlns:a="http://schemas.openxmlformats.org/drawingml/2006/main" noGrp="1"/>
          </p:cNvSpPr>
          <p:nvPr/>
        </p:nvSpPr>
        <p:spPr>
          <a:xfrm xmlns:a="http://schemas.openxmlformats.org/drawingml/2006/main">
            <a:off x="609600" y="1400175"/>
            <a:ext cx="1666875" cy="581025"/>
          </a:xfrm>
          <a:prstGeom xmlns:a="http://schemas.openxmlformats.org/drawingml/2006/main" prst="roundRect">
            <a:avLst>
              <a:gd name="adj" fmla="val 19672"/>
            </a:avLst>
          </a:prstGeom>
          <a:solidFill xmlns:a="http://schemas.openxmlformats.org/drawingml/2006/main">
            <a:srgbClr val="FFFFFF"/>
          </a:solidFill>
          <a:ln xmlns:a="http://schemas.openxmlformats.org/drawingml/2006/main" w="9525">
            <a:solidFill>
              <a:srgbClr val="E1E7EB"/>
            </a:solidFill>
            <a:prstDash val="solid"/>
          </a:ln>
        </p:spPr>
      </p:sp>
      <p:sp>
        <p:nvSpPr>
          <p:cNvPr id="7" name="">
            <a:extLst xmlns:a="http://schemas.openxmlformats.org/drawingml/2006/main">
              <a:ext uri="{FF2B5EF4-FFF2-40B4-BE49-F238E27FC236}">
                <a16:creationId xmlns:a16="http://schemas.microsoft.com/office/drawing/2014/main" id="{1E45D229-776B-4AA2-B4C4-58A90E761F24}"/>
              </a:ext>
            </a:extLst>
          </p:cNvPr>
          <p:cNvSpPr>
            <a:spLocks xmlns:a="http://schemas.openxmlformats.org/drawingml/2006/main" noGrp="1"/>
          </p:cNvSpPr>
          <p:nvPr/>
        </p:nvSpPr>
        <p:spPr>
          <a:xfrm xmlns:a="http://schemas.openxmlformats.org/drawingml/2006/main">
            <a:off x="723900"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192535"/>
                </a:solidFill>
              </a:defRPr>
            </a:defPPr>
            <a:lvl1pPr>
              <a:defRPr sz="900" b="1">
                <a:solidFill>
                  <a:srgbClr val="192535"/>
                </a:solidFill>
              </a:defRPr>
            </a:lvl1pPr>
            <a:lvl2pPr>
              <a:defRPr sz="900" b="1">
                <a:solidFill>
                  <a:srgbClr val="192535"/>
                </a:solidFill>
              </a:defRPr>
            </a:lvl2pPr>
            <a:lvl3pPr>
              <a:defRPr sz="900" b="1">
                <a:solidFill>
                  <a:srgbClr val="192535"/>
                </a:solidFill>
              </a:defRPr>
            </a:lvl3pPr>
            <a:lvl4pPr>
              <a:defRPr sz="900" b="1">
                <a:solidFill>
                  <a:srgbClr val="192535"/>
                </a:solidFill>
              </a:defRPr>
            </a:lvl4pPr>
            <a:lvl5pPr>
              <a:defRPr sz="900" b="1">
                <a:solidFill>
                  <a:srgbClr val="192535"/>
                </a:solidFill>
              </a:defRPr>
            </a:lvl5pPr>
            <a:lvl6pPr>
              <a:defRPr sz="900" b="1">
                <a:solidFill>
                  <a:srgbClr val="192535"/>
                </a:solidFill>
              </a:defRPr>
            </a:lvl6pPr>
            <a:lvl7pPr>
              <a:defRPr sz="900" b="1">
                <a:solidFill>
                  <a:srgbClr val="192535"/>
                </a:solidFill>
              </a:defRPr>
            </a:lvl7pPr>
            <a:lvl8pPr>
              <a:defRPr sz="900" b="1">
                <a:solidFill>
                  <a:srgbClr val="192535"/>
                </a:solidFill>
              </a:defRPr>
            </a:lvl8pPr>
            <a:lvl9pPr>
              <a:defRPr sz="900" b="1">
                <a:solidFill>
                  <a:srgbClr val="192535"/>
                </a:solidFill>
              </a:defRPr>
            </a:lvl9pPr>
          </a:lstStyle>
          <a:p xmlns:a="http://schemas.openxmlformats.org/drawingml/2006/main">
            <a:pPr>
              <a:defRPr sz="900" b="1">
                <a:solidFill>
                  <a:srgbClr val="192535"/>
                </a:solidFill>
              </a:defRPr>
            </a:pPr>
            <a:r>
              <a:rPr sz="900" b="1">
                <a:solidFill>
                  <a:srgbClr val="192535"/>
                </a:solidFill>
              </a:rPr>
              <a:t>01  Import r1</a:t>
            </a:r>
          </a:p>
        </p:txBody>
      </p:sp>
      <p:sp>
        <p:nvSpPr>
          <p:cNvPr id="8" name="">
            <a:extLst xmlns:a="http://schemas.openxmlformats.org/drawingml/2006/main">
              <a:ext uri="{FF2B5EF4-FFF2-40B4-BE49-F238E27FC236}">
                <a16:creationId xmlns:a16="http://schemas.microsoft.com/office/drawing/2014/main" id="{8F57E3A9-220D-4594-AAEE-4AA265B60285}"/>
              </a:ext>
            </a:extLst>
          </p:cNvPr>
          <p:cNvSpPr>
            <a:spLocks xmlns:a="http://schemas.openxmlformats.org/drawingml/2006/main" noGrp="1"/>
          </p:cNvSpPr>
          <p:nvPr/>
        </p:nvSpPr>
        <p:spPr>
          <a:xfrm xmlns:a="http://schemas.openxmlformats.org/drawingml/2006/main">
            <a:off x="2247900" y="15621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D9B8D"/>
                </a:solidFill>
              </a:defRPr>
            </a:defPPr>
            <a:lvl1pPr>
              <a:defRPr sz="1350" b="1">
                <a:solidFill>
                  <a:srgbClr val="0D9B8D"/>
                </a:solidFill>
              </a:defRPr>
            </a:lvl1pPr>
            <a:lvl2pPr>
              <a:defRPr sz="1350" b="1">
                <a:solidFill>
                  <a:srgbClr val="0D9B8D"/>
                </a:solidFill>
              </a:defRPr>
            </a:lvl2pPr>
            <a:lvl3pPr>
              <a:defRPr sz="1350" b="1">
                <a:solidFill>
                  <a:srgbClr val="0D9B8D"/>
                </a:solidFill>
              </a:defRPr>
            </a:lvl3pPr>
            <a:lvl4pPr>
              <a:defRPr sz="1350" b="1">
                <a:solidFill>
                  <a:srgbClr val="0D9B8D"/>
                </a:solidFill>
              </a:defRPr>
            </a:lvl4pPr>
            <a:lvl5pPr>
              <a:defRPr sz="1350" b="1">
                <a:solidFill>
                  <a:srgbClr val="0D9B8D"/>
                </a:solidFill>
              </a:defRPr>
            </a:lvl5pPr>
            <a:lvl6pPr>
              <a:defRPr sz="1350" b="1">
                <a:solidFill>
                  <a:srgbClr val="0D9B8D"/>
                </a:solidFill>
              </a:defRPr>
            </a:lvl6pPr>
            <a:lvl7pPr>
              <a:defRPr sz="1350" b="1">
                <a:solidFill>
                  <a:srgbClr val="0D9B8D"/>
                </a:solidFill>
              </a:defRPr>
            </a:lvl7pPr>
            <a:lvl8pPr>
              <a:defRPr sz="1350" b="1">
                <a:solidFill>
                  <a:srgbClr val="0D9B8D"/>
                </a:solidFill>
              </a:defRPr>
            </a:lvl8pPr>
            <a:lvl9pPr>
              <a:defRPr sz="1350" b="1">
                <a:solidFill>
                  <a:srgbClr val="0D9B8D"/>
                </a:solidFill>
              </a:defRPr>
            </a:lvl9pPr>
          </a:lstStyle>
          <a:p xmlns:a="http://schemas.openxmlformats.org/drawingml/2006/main">
            <a:pPr>
              <a:defRPr sz="1350" b="1">
                <a:solidFill>
                  <a:srgbClr val="0D9B8D"/>
                </a:solidFill>
              </a:defRPr>
            </a:pPr>
            <a:r>
              <a:rPr sz="1350" b="1">
                <a:solidFill>
                  <a:srgbClr val="0D9B8D"/>
                </a:solidFill>
              </a:rPr>
              <a:t>→</a:t>
            </a:r>
          </a:p>
        </p:txBody>
      </p:sp>
      <p:sp>
        <p:nvSpPr>
          <p:cNvPr id="9" name="">
            <a:extLst xmlns:a="http://schemas.openxmlformats.org/drawingml/2006/main">
              <a:ext uri="{FF2B5EF4-FFF2-40B4-BE49-F238E27FC236}">
                <a16:creationId xmlns:a16="http://schemas.microsoft.com/office/drawing/2014/main" id="{140B32C6-AD9A-4791-A688-E76F7CED1495}"/>
              </a:ext>
            </a:extLst>
          </p:cNvPr>
          <p:cNvSpPr>
            <a:spLocks xmlns:a="http://schemas.openxmlformats.org/drawingml/2006/main" noGrp="1"/>
          </p:cNvSpPr>
          <p:nvPr/>
        </p:nvSpPr>
        <p:spPr>
          <a:xfrm xmlns:a="http://schemas.openxmlformats.org/drawingml/2006/main">
            <a:off x="2447925" y="1400175"/>
            <a:ext cx="1666875" cy="581025"/>
          </a:xfrm>
          <a:prstGeom xmlns:a="http://schemas.openxmlformats.org/drawingml/2006/main" prst="roundRect">
            <a:avLst>
              <a:gd name="adj" fmla="val 19672"/>
            </a:avLst>
          </a:prstGeom>
          <a:solidFill xmlns:a="http://schemas.openxmlformats.org/drawingml/2006/main">
            <a:srgbClr val="FFFFFF"/>
          </a:solidFill>
          <a:ln xmlns:a="http://schemas.openxmlformats.org/drawingml/2006/main" w="9525">
            <a:solidFill>
              <a:srgbClr val="E1E7EB"/>
            </a:solidFill>
            <a:prstDash val="solid"/>
          </a:ln>
        </p:spPr>
      </p:sp>
      <p:sp>
        <p:nvSpPr>
          <p:cNvPr id="10" name="">
            <a:extLst xmlns:a="http://schemas.openxmlformats.org/drawingml/2006/main">
              <a:ext uri="{FF2B5EF4-FFF2-40B4-BE49-F238E27FC236}">
                <a16:creationId xmlns:a16="http://schemas.microsoft.com/office/drawing/2014/main" id="{CE5CECC6-8FA6-4E9D-88EA-BD8CD874FF03}"/>
              </a:ext>
            </a:extLst>
          </p:cNvPr>
          <p:cNvSpPr>
            <a:spLocks xmlns:a="http://schemas.openxmlformats.org/drawingml/2006/main" noGrp="1"/>
          </p:cNvSpPr>
          <p:nvPr/>
        </p:nvSpPr>
        <p:spPr>
          <a:xfrm xmlns:a="http://schemas.openxmlformats.org/drawingml/2006/main">
            <a:off x="2562225"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192535"/>
                </a:solidFill>
              </a:defRPr>
            </a:defPPr>
            <a:lvl1pPr>
              <a:defRPr sz="900" b="1">
                <a:solidFill>
                  <a:srgbClr val="192535"/>
                </a:solidFill>
              </a:defRPr>
            </a:lvl1pPr>
            <a:lvl2pPr>
              <a:defRPr sz="900" b="1">
                <a:solidFill>
                  <a:srgbClr val="192535"/>
                </a:solidFill>
              </a:defRPr>
            </a:lvl2pPr>
            <a:lvl3pPr>
              <a:defRPr sz="900" b="1">
                <a:solidFill>
                  <a:srgbClr val="192535"/>
                </a:solidFill>
              </a:defRPr>
            </a:lvl3pPr>
            <a:lvl4pPr>
              <a:defRPr sz="900" b="1">
                <a:solidFill>
                  <a:srgbClr val="192535"/>
                </a:solidFill>
              </a:defRPr>
            </a:lvl4pPr>
            <a:lvl5pPr>
              <a:defRPr sz="900" b="1">
                <a:solidFill>
                  <a:srgbClr val="192535"/>
                </a:solidFill>
              </a:defRPr>
            </a:lvl5pPr>
            <a:lvl6pPr>
              <a:defRPr sz="900" b="1">
                <a:solidFill>
                  <a:srgbClr val="192535"/>
                </a:solidFill>
              </a:defRPr>
            </a:lvl6pPr>
            <a:lvl7pPr>
              <a:defRPr sz="900" b="1">
                <a:solidFill>
                  <a:srgbClr val="192535"/>
                </a:solidFill>
              </a:defRPr>
            </a:lvl7pPr>
            <a:lvl8pPr>
              <a:defRPr sz="900" b="1">
                <a:solidFill>
                  <a:srgbClr val="192535"/>
                </a:solidFill>
              </a:defRPr>
            </a:lvl8pPr>
            <a:lvl9pPr>
              <a:defRPr sz="900" b="1">
                <a:solidFill>
                  <a:srgbClr val="192535"/>
                </a:solidFill>
              </a:defRPr>
            </a:lvl9pPr>
          </a:lstStyle>
          <a:p xmlns:a="http://schemas.openxmlformats.org/drawingml/2006/main">
            <a:pPr>
              <a:defRPr sz="900" b="1">
                <a:solidFill>
                  <a:srgbClr val="192535"/>
                </a:solidFill>
              </a:defRPr>
            </a:pPr>
            <a:r>
              <a:rPr sz="900" b="1">
                <a:solidFill>
                  <a:srgbClr val="192535"/>
                </a:solidFill>
              </a:rPr>
              <a:t>02  Repeat shuffled r1</a:t>
            </a:r>
          </a:p>
        </p:txBody>
      </p:sp>
      <p:sp>
        <p:nvSpPr>
          <p:cNvPr id="11" name="">
            <a:extLst xmlns:a="http://schemas.openxmlformats.org/drawingml/2006/main">
              <a:ext uri="{FF2B5EF4-FFF2-40B4-BE49-F238E27FC236}">
                <a16:creationId xmlns:a16="http://schemas.microsoft.com/office/drawing/2014/main" id="{D6560C26-4AEE-499A-86C1-F2C57ED1969B}"/>
              </a:ext>
            </a:extLst>
          </p:cNvPr>
          <p:cNvSpPr>
            <a:spLocks xmlns:a="http://schemas.openxmlformats.org/drawingml/2006/main" noGrp="1"/>
          </p:cNvSpPr>
          <p:nvPr/>
        </p:nvSpPr>
        <p:spPr>
          <a:xfrm xmlns:a="http://schemas.openxmlformats.org/drawingml/2006/main">
            <a:off x="4086225" y="15621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D9B8D"/>
                </a:solidFill>
              </a:defRPr>
            </a:defPPr>
            <a:lvl1pPr>
              <a:defRPr sz="1350" b="1">
                <a:solidFill>
                  <a:srgbClr val="0D9B8D"/>
                </a:solidFill>
              </a:defRPr>
            </a:lvl1pPr>
            <a:lvl2pPr>
              <a:defRPr sz="1350" b="1">
                <a:solidFill>
                  <a:srgbClr val="0D9B8D"/>
                </a:solidFill>
              </a:defRPr>
            </a:lvl2pPr>
            <a:lvl3pPr>
              <a:defRPr sz="1350" b="1">
                <a:solidFill>
                  <a:srgbClr val="0D9B8D"/>
                </a:solidFill>
              </a:defRPr>
            </a:lvl3pPr>
            <a:lvl4pPr>
              <a:defRPr sz="1350" b="1">
                <a:solidFill>
                  <a:srgbClr val="0D9B8D"/>
                </a:solidFill>
              </a:defRPr>
            </a:lvl4pPr>
            <a:lvl5pPr>
              <a:defRPr sz="1350" b="1">
                <a:solidFill>
                  <a:srgbClr val="0D9B8D"/>
                </a:solidFill>
              </a:defRPr>
            </a:lvl5pPr>
            <a:lvl6pPr>
              <a:defRPr sz="1350" b="1">
                <a:solidFill>
                  <a:srgbClr val="0D9B8D"/>
                </a:solidFill>
              </a:defRPr>
            </a:lvl6pPr>
            <a:lvl7pPr>
              <a:defRPr sz="1350" b="1">
                <a:solidFill>
                  <a:srgbClr val="0D9B8D"/>
                </a:solidFill>
              </a:defRPr>
            </a:lvl7pPr>
            <a:lvl8pPr>
              <a:defRPr sz="1350" b="1">
                <a:solidFill>
                  <a:srgbClr val="0D9B8D"/>
                </a:solidFill>
              </a:defRPr>
            </a:lvl8pPr>
            <a:lvl9pPr>
              <a:defRPr sz="1350" b="1">
                <a:solidFill>
                  <a:srgbClr val="0D9B8D"/>
                </a:solidFill>
              </a:defRPr>
            </a:lvl9pPr>
          </a:lstStyle>
          <a:p xmlns:a="http://schemas.openxmlformats.org/drawingml/2006/main">
            <a:pPr>
              <a:defRPr sz="1350" b="1">
                <a:solidFill>
                  <a:srgbClr val="0D9B8D"/>
                </a:solidFill>
              </a:defRPr>
            </a:pPr>
            <a:r>
              <a:rPr sz="1350" b="1">
                <a:solidFill>
                  <a:srgbClr val="0D9B8D"/>
                </a:solidFill>
              </a:rPr>
              <a:t>→</a:t>
            </a:r>
          </a:p>
        </p:txBody>
      </p:sp>
      <p:sp>
        <p:nvSpPr>
          <p:cNvPr id="12" name="">
            <a:extLst xmlns:a="http://schemas.openxmlformats.org/drawingml/2006/main">
              <a:ext uri="{FF2B5EF4-FFF2-40B4-BE49-F238E27FC236}">
                <a16:creationId xmlns:a16="http://schemas.microsoft.com/office/drawing/2014/main" id="{DACCD1C8-3FD7-4536-9E8B-7A0A90D51B1F}"/>
              </a:ext>
            </a:extLst>
          </p:cNvPr>
          <p:cNvSpPr>
            <a:spLocks xmlns:a="http://schemas.openxmlformats.org/drawingml/2006/main" noGrp="1"/>
          </p:cNvSpPr>
          <p:nvPr/>
        </p:nvSpPr>
        <p:spPr>
          <a:xfrm xmlns:a="http://schemas.openxmlformats.org/drawingml/2006/main">
            <a:off x="4286250" y="1400175"/>
            <a:ext cx="1666875" cy="581025"/>
          </a:xfrm>
          <a:prstGeom xmlns:a="http://schemas.openxmlformats.org/drawingml/2006/main" prst="roundRect">
            <a:avLst>
              <a:gd name="adj" fmla="val 19672"/>
            </a:avLst>
          </a:prstGeom>
          <a:solidFill xmlns:a="http://schemas.openxmlformats.org/drawingml/2006/main">
            <a:srgbClr val="FFFFFF"/>
          </a:solidFill>
          <a:ln xmlns:a="http://schemas.openxmlformats.org/drawingml/2006/main" w="9525">
            <a:solidFill>
              <a:srgbClr val="E1E7EB"/>
            </a:solidFill>
            <a:prstDash val="solid"/>
          </a:ln>
        </p:spPr>
      </p:sp>
      <p:sp>
        <p:nvSpPr>
          <p:cNvPr id="13" name="">
            <a:extLst xmlns:a="http://schemas.openxmlformats.org/drawingml/2006/main">
              <a:ext uri="{FF2B5EF4-FFF2-40B4-BE49-F238E27FC236}">
                <a16:creationId xmlns:a16="http://schemas.microsoft.com/office/drawing/2014/main" id="{82716419-686B-466F-B2FC-D2FB285CD17A}"/>
              </a:ext>
            </a:extLst>
          </p:cNvPr>
          <p:cNvSpPr>
            <a:spLocks xmlns:a="http://schemas.openxmlformats.org/drawingml/2006/main" noGrp="1"/>
          </p:cNvSpPr>
          <p:nvPr/>
        </p:nvSpPr>
        <p:spPr>
          <a:xfrm xmlns:a="http://schemas.openxmlformats.org/drawingml/2006/main">
            <a:off x="4400550"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192535"/>
                </a:solidFill>
              </a:defRPr>
            </a:defPPr>
            <a:lvl1pPr>
              <a:defRPr sz="900" b="1">
                <a:solidFill>
                  <a:srgbClr val="192535"/>
                </a:solidFill>
              </a:defRPr>
            </a:lvl1pPr>
            <a:lvl2pPr>
              <a:defRPr sz="900" b="1">
                <a:solidFill>
                  <a:srgbClr val="192535"/>
                </a:solidFill>
              </a:defRPr>
            </a:lvl2pPr>
            <a:lvl3pPr>
              <a:defRPr sz="900" b="1">
                <a:solidFill>
                  <a:srgbClr val="192535"/>
                </a:solidFill>
              </a:defRPr>
            </a:lvl3pPr>
            <a:lvl4pPr>
              <a:defRPr sz="900" b="1">
                <a:solidFill>
                  <a:srgbClr val="192535"/>
                </a:solidFill>
              </a:defRPr>
            </a:lvl4pPr>
            <a:lvl5pPr>
              <a:defRPr sz="900" b="1">
                <a:solidFill>
                  <a:srgbClr val="192535"/>
                </a:solidFill>
              </a:defRPr>
            </a:lvl5pPr>
            <a:lvl6pPr>
              <a:defRPr sz="900" b="1">
                <a:solidFill>
                  <a:srgbClr val="192535"/>
                </a:solidFill>
              </a:defRPr>
            </a:lvl6pPr>
            <a:lvl7pPr>
              <a:defRPr sz="900" b="1">
                <a:solidFill>
                  <a:srgbClr val="192535"/>
                </a:solidFill>
              </a:defRPr>
            </a:lvl7pPr>
            <a:lvl8pPr>
              <a:defRPr sz="900" b="1">
                <a:solidFill>
                  <a:srgbClr val="192535"/>
                </a:solidFill>
              </a:defRPr>
            </a:lvl8pPr>
            <a:lvl9pPr>
              <a:defRPr sz="900" b="1">
                <a:solidFill>
                  <a:srgbClr val="192535"/>
                </a:solidFill>
              </a:defRPr>
            </a:lvl9pPr>
          </a:lstStyle>
          <a:p xmlns:a="http://schemas.openxmlformats.org/drawingml/2006/main">
            <a:pPr>
              <a:defRPr sz="900" b="1">
                <a:solidFill>
                  <a:srgbClr val="192535"/>
                </a:solidFill>
              </a:defRPr>
            </a:pPr>
            <a:r>
              <a:rPr sz="900" b="1">
                <a:solidFill>
                  <a:srgbClr val="192535"/>
                </a:solidFill>
              </a:rPr>
              <a:t>03  Manually route M07</a:t>
            </a:r>
          </a:p>
        </p:txBody>
      </p:sp>
      <p:sp>
        <p:nvSpPr>
          <p:cNvPr id="14" name="">
            <a:extLst xmlns:a="http://schemas.openxmlformats.org/drawingml/2006/main">
              <a:ext uri="{FF2B5EF4-FFF2-40B4-BE49-F238E27FC236}">
                <a16:creationId xmlns:a16="http://schemas.microsoft.com/office/drawing/2014/main" id="{676526F5-5648-4C75-86ED-867879708C47}"/>
              </a:ext>
            </a:extLst>
          </p:cNvPr>
          <p:cNvSpPr>
            <a:spLocks xmlns:a="http://schemas.openxmlformats.org/drawingml/2006/main" noGrp="1"/>
          </p:cNvSpPr>
          <p:nvPr/>
        </p:nvSpPr>
        <p:spPr>
          <a:xfrm xmlns:a="http://schemas.openxmlformats.org/drawingml/2006/main">
            <a:off x="5924550" y="15621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D9B8D"/>
                </a:solidFill>
              </a:defRPr>
            </a:defPPr>
            <a:lvl1pPr>
              <a:defRPr sz="1350" b="1">
                <a:solidFill>
                  <a:srgbClr val="0D9B8D"/>
                </a:solidFill>
              </a:defRPr>
            </a:lvl1pPr>
            <a:lvl2pPr>
              <a:defRPr sz="1350" b="1">
                <a:solidFill>
                  <a:srgbClr val="0D9B8D"/>
                </a:solidFill>
              </a:defRPr>
            </a:lvl2pPr>
            <a:lvl3pPr>
              <a:defRPr sz="1350" b="1">
                <a:solidFill>
                  <a:srgbClr val="0D9B8D"/>
                </a:solidFill>
              </a:defRPr>
            </a:lvl3pPr>
            <a:lvl4pPr>
              <a:defRPr sz="1350" b="1">
                <a:solidFill>
                  <a:srgbClr val="0D9B8D"/>
                </a:solidFill>
              </a:defRPr>
            </a:lvl4pPr>
            <a:lvl5pPr>
              <a:defRPr sz="1350" b="1">
                <a:solidFill>
                  <a:srgbClr val="0D9B8D"/>
                </a:solidFill>
              </a:defRPr>
            </a:lvl5pPr>
            <a:lvl6pPr>
              <a:defRPr sz="1350" b="1">
                <a:solidFill>
                  <a:srgbClr val="0D9B8D"/>
                </a:solidFill>
              </a:defRPr>
            </a:lvl6pPr>
            <a:lvl7pPr>
              <a:defRPr sz="1350" b="1">
                <a:solidFill>
                  <a:srgbClr val="0D9B8D"/>
                </a:solidFill>
              </a:defRPr>
            </a:lvl7pPr>
            <a:lvl8pPr>
              <a:defRPr sz="1350" b="1">
                <a:solidFill>
                  <a:srgbClr val="0D9B8D"/>
                </a:solidFill>
              </a:defRPr>
            </a:lvl8pPr>
            <a:lvl9pPr>
              <a:defRPr sz="1350" b="1">
                <a:solidFill>
                  <a:srgbClr val="0D9B8D"/>
                </a:solidFill>
              </a:defRPr>
            </a:lvl9pPr>
          </a:lstStyle>
          <a:p xmlns:a="http://schemas.openxmlformats.org/drawingml/2006/main">
            <a:pPr>
              <a:defRPr sz="1350" b="1">
                <a:solidFill>
                  <a:srgbClr val="0D9B8D"/>
                </a:solidFill>
              </a:defRPr>
            </a:pPr>
            <a:r>
              <a:rPr sz="1350" b="1">
                <a:solidFill>
                  <a:srgbClr val="0D9B8D"/>
                </a:solidFill>
              </a:rPr>
              <a:t>→</a:t>
            </a:r>
          </a:p>
        </p:txBody>
      </p:sp>
      <p:sp>
        <p:nvSpPr>
          <p:cNvPr id="15" name="">
            <a:extLst xmlns:a="http://schemas.openxmlformats.org/drawingml/2006/main">
              <a:ext uri="{FF2B5EF4-FFF2-40B4-BE49-F238E27FC236}">
                <a16:creationId xmlns:a16="http://schemas.microsoft.com/office/drawing/2014/main" id="{C3836FC9-DE26-4269-A5D1-B12ECD2694A4}"/>
              </a:ext>
            </a:extLst>
          </p:cNvPr>
          <p:cNvSpPr>
            <a:spLocks xmlns:a="http://schemas.openxmlformats.org/drawingml/2006/main" noGrp="1"/>
          </p:cNvSpPr>
          <p:nvPr/>
        </p:nvSpPr>
        <p:spPr>
          <a:xfrm xmlns:a="http://schemas.openxmlformats.org/drawingml/2006/main">
            <a:off x="6124575" y="1400175"/>
            <a:ext cx="1666875" cy="581025"/>
          </a:xfrm>
          <a:prstGeom xmlns:a="http://schemas.openxmlformats.org/drawingml/2006/main" prst="roundRect">
            <a:avLst>
              <a:gd name="adj" fmla="val 19672"/>
            </a:avLst>
          </a:prstGeom>
          <a:solidFill xmlns:a="http://schemas.openxmlformats.org/drawingml/2006/main">
            <a:srgbClr val="DDF3EE"/>
          </a:solidFill>
          <a:ln xmlns:a="http://schemas.openxmlformats.org/drawingml/2006/main" w="9525">
            <a:solidFill>
              <a:srgbClr val="E1E7EB"/>
            </a:solidFill>
            <a:prstDash val="solid"/>
          </a:ln>
        </p:spPr>
      </p:sp>
      <p:sp>
        <p:nvSpPr>
          <p:cNvPr id="16" name="">
            <a:extLst xmlns:a="http://schemas.openxmlformats.org/drawingml/2006/main">
              <a:ext uri="{FF2B5EF4-FFF2-40B4-BE49-F238E27FC236}">
                <a16:creationId xmlns:a16="http://schemas.microsoft.com/office/drawing/2014/main" id="{C21977EC-A4C1-40B5-B9F7-2D04F8687A34}"/>
              </a:ext>
            </a:extLst>
          </p:cNvPr>
          <p:cNvSpPr>
            <a:spLocks xmlns:a="http://schemas.openxmlformats.org/drawingml/2006/main" noGrp="1"/>
          </p:cNvSpPr>
          <p:nvPr/>
        </p:nvSpPr>
        <p:spPr>
          <a:xfrm xmlns:a="http://schemas.openxmlformats.org/drawingml/2006/main">
            <a:off x="6238875"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04  Apply update r2</a:t>
            </a:r>
          </a:p>
        </p:txBody>
      </p:sp>
      <p:sp>
        <p:nvSpPr>
          <p:cNvPr id="17" name="">
            <a:extLst xmlns:a="http://schemas.openxmlformats.org/drawingml/2006/main">
              <a:ext uri="{FF2B5EF4-FFF2-40B4-BE49-F238E27FC236}">
                <a16:creationId xmlns:a16="http://schemas.microsoft.com/office/drawing/2014/main" id="{C00C5351-F9E4-4904-A586-8E93298C942E}"/>
              </a:ext>
            </a:extLst>
          </p:cNvPr>
          <p:cNvSpPr>
            <a:spLocks xmlns:a="http://schemas.openxmlformats.org/drawingml/2006/main" noGrp="1"/>
          </p:cNvSpPr>
          <p:nvPr/>
        </p:nvSpPr>
        <p:spPr>
          <a:xfrm xmlns:a="http://schemas.openxmlformats.org/drawingml/2006/main">
            <a:off x="7762875" y="15621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D9B8D"/>
                </a:solidFill>
              </a:defRPr>
            </a:defPPr>
            <a:lvl1pPr>
              <a:defRPr sz="1350" b="1">
                <a:solidFill>
                  <a:srgbClr val="0D9B8D"/>
                </a:solidFill>
              </a:defRPr>
            </a:lvl1pPr>
            <a:lvl2pPr>
              <a:defRPr sz="1350" b="1">
                <a:solidFill>
                  <a:srgbClr val="0D9B8D"/>
                </a:solidFill>
              </a:defRPr>
            </a:lvl2pPr>
            <a:lvl3pPr>
              <a:defRPr sz="1350" b="1">
                <a:solidFill>
                  <a:srgbClr val="0D9B8D"/>
                </a:solidFill>
              </a:defRPr>
            </a:lvl3pPr>
            <a:lvl4pPr>
              <a:defRPr sz="1350" b="1">
                <a:solidFill>
                  <a:srgbClr val="0D9B8D"/>
                </a:solidFill>
              </a:defRPr>
            </a:lvl4pPr>
            <a:lvl5pPr>
              <a:defRPr sz="1350" b="1">
                <a:solidFill>
                  <a:srgbClr val="0D9B8D"/>
                </a:solidFill>
              </a:defRPr>
            </a:lvl5pPr>
            <a:lvl6pPr>
              <a:defRPr sz="1350" b="1">
                <a:solidFill>
                  <a:srgbClr val="0D9B8D"/>
                </a:solidFill>
              </a:defRPr>
            </a:lvl6pPr>
            <a:lvl7pPr>
              <a:defRPr sz="1350" b="1">
                <a:solidFill>
                  <a:srgbClr val="0D9B8D"/>
                </a:solidFill>
              </a:defRPr>
            </a:lvl7pPr>
            <a:lvl8pPr>
              <a:defRPr sz="1350" b="1">
                <a:solidFill>
                  <a:srgbClr val="0D9B8D"/>
                </a:solidFill>
              </a:defRPr>
            </a:lvl8pPr>
            <a:lvl9pPr>
              <a:defRPr sz="1350" b="1">
                <a:solidFill>
                  <a:srgbClr val="0D9B8D"/>
                </a:solidFill>
              </a:defRPr>
            </a:lvl9pPr>
          </a:lstStyle>
          <a:p xmlns:a="http://schemas.openxmlformats.org/drawingml/2006/main">
            <a:pPr>
              <a:defRPr sz="1350" b="1">
                <a:solidFill>
                  <a:srgbClr val="0D9B8D"/>
                </a:solidFill>
              </a:defRPr>
            </a:pPr>
            <a:r>
              <a:rPr sz="1350" b="1">
                <a:solidFill>
                  <a:srgbClr val="0D9B8D"/>
                </a:solidFill>
              </a:rPr>
              <a:t>→</a:t>
            </a:r>
          </a:p>
        </p:txBody>
      </p:sp>
      <p:sp>
        <p:nvSpPr>
          <p:cNvPr id="18" name="">
            <a:extLst xmlns:a="http://schemas.openxmlformats.org/drawingml/2006/main">
              <a:ext uri="{FF2B5EF4-FFF2-40B4-BE49-F238E27FC236}">
                <a16:creationId xmlns:a16="http://schemas.microsoft.com/office/drawing/2014/main" id="{C68D1E7E-BB9D-4AE7-9EF6-4A1E224F197F}"/>
              </a:ext>
            </a:extLst>
          </p:cNvPr>
          <p:cNvSpPr>
            <a:spLocks xmlns:a="http://schemas.openxmlformats.org/drawingml/2006/main" noGrp="1"/>
          </p:cNvSpPr>
          <p:nvPr/>
        </p:nvSpPr>
        <p:spPr>
          <a:xfrm xmlns:a="http://schemas.openxmlformats.org/drawingml/2006/main">
            <a:off x="7962900" y="1400175"/>
            <a:ext cx="1666875" cy="581025"/>
          </a:xfrm>
          <a:prstGeom xmlns:a="http://schemas.openxmlformats.org/drawingml/2006/main" prst="roundRect">
            <a:avLst>
              <a:gd name="adj" fmla="val 19672"/>
            </a:avLst>
          </a:prstGeom>
          <a:solidFill xmlns:a="http://schemas.openxmlformats.org/drawingml/2006/main">
            <a:srgbClr val="FFFFFF"/>
          </a:solidFill>
          <a:ln xmlns:a="http://schemas.openxmlformats.org/drawingml/2006/main" w="9525">
            <a:solidFill>
              <a:srgbClr val="E1E7EB"/>
            </a:solidFill>
            <a:prstDash val="solid"/>
          </a:ln>
        </p:spPr>
      </p:sp>
      <p:sp>
        <p:nvSpPr>
          <p:cNvPr id="19" name="">
            <a:extLst xmlns:a="http://schemas.openxmlformats.org/drawingml/2006/main">
              <a:ext uri="{FF2B5EF4-FFF2-40B4-BE49-F238E27FC236}">
                <a16:creationId xmlns:a16="http://schemas.microsoft.com/office/drawing/2014/main" id="{9A2F14BA-B87D-4D3C-8FDE-0548D9AC4BF2}"/>
              </a:ext>
            </a:extLst>
          </p:cNvPr>
          <p:cNvSpPr>
            <a:spLocks xmlns:a="http://schemas.openxmlformats.org/drawingml/2006/main" noGrp="1"/>
          </p:cNvSpPr>
          <p:nvPr/>
        </p:nvSpPr>
        <p:spPr>
          <a:xfrm xmlns:a="http://schemas.openxmlformats.org/drawingml/2006/main">
            <a:off x="8077200"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192535"/>
                </a:solidFill>
              </a:defRPr>
            </a:defPPr>
            <a:lvl1pPr>
              <a:defRPr sz="900" b="1">
                <a:solidFill>
                  <a:srgbClr val="192535"/>
                </a:solidFill>
              </a:defRPr>
            </a:lvl1pPr>
            <a:lvl2pPr>
              <a:defRPr sz="900" b="1">
                <a:solidFill>
                  <a:srgbClr val="192535"/>
                </a:solidFill>
              </a:defRPr>
            </a:lvl2pPr>
            <a:lvl3pPr>
              <a:defRPr sz="900" b="1">
                <a:solidFill>
                  <a:srgbClr val="192535"/>
                </a:solidFill>
              </a:defRPr>
            </a:lvl3pPr>
            <a:lvl4pPr>
              <a:defRPr sz="900" b="1">
                <a:solidFill>
                  <a:srgbClr val="192535"/>
                </a:solidFill>
              </a:defRPr>
            </a:lvl4pPr>
            <a:lvl5pPr>
              <a:defRPr sz="900" b="1">
                <a:solidFill>
                  <a:srgbClr val="192535"/>
                </a:solidFill>
              </a:defRPr>
            </a:lvl5pPr>
            <a:lvl6pPr>
              <a:defRPr sz="900" b="1">
                <a:solidFill>
                  <a:srgbClr val="192535"/>
                </a:solidFill>
              </a:defRPr>
            </a:lvl6pPr>
            <a:lvl7pPr>
              <a:defRPr sz="900" b="1">
                <a:solidFill>
                  <a:srgbClr val="192535"/>
                </a:solidFill>
              </a:defRPr>
            </a:lvl7pPr>
            <a:lvl8pPr>
              <a:defRPr sz="900" b="1">
                <a:solidFill>
                  <a:srgbClr val="192535"/>
                </a:solidFill>
              </a:defRPr>
            </a:lvl8pPr>
            <a:lvl9pPr>
              <a:defRPr sz="900" b="1">
                <a:solidFill>
                  <a:srgbClr val="192535"/>
                </a:solidFill>
              </a:defRPr>
            </a:lvl9pPr>
          </a:lstStyle>
          <a:p xmlns:a="http://schemas.openxmlformats.org/drawingml/2006/main">
            <a:pPr>
              <a:defRPr sz="900" b="1">
                <a:solidFill>
                  <a:srgbClr val="192535"/>
                </a:solidFill>
              </a:defRPr>
            </a:pPr>
            <a:r>
              <a:rPr sz="900" b="1">
                <a:solidFill>
                  <a:srgbClr val="192535"/>
                </a:solidFill>
              </a:rPr>
              <a:t>05  Replay older r1</a:t>
            </a:r>
          </a:p>
        </p:txBody>
      </p:sp>
      <p:sp>
        <p:nvSpPr>
          <p:cNvPr id="20" name="">
            <a:extLst xmlns:a="http://schemas.openxmlformats.org/drawingml/2006/main">
              <a:ext uri="{FF2B5EF4-FFF2-40B4-BE49-F238E27FC236}">
                <a16:creationId xmlns:a16="http://schemas.microsoft.com/office/drawing/2014/main" id="{1D82D083-DAE9-4FD3-B726-60CE4253F919}"/>
              </a:ext>
            </a:extLst>
          </p:cNvPr>
          <p:cNvSpPr>
            <a:spLocks xmlns:a="http://schemas.openxmlformats.org/drawingml/2006/main" noGrp="1"/>
          </p:cNvSpPr>
          <p:nvPr/>
        </p:nvSpPr>
        <p:spPr>
          <a:xfrm xmlns:a="http://schemas.openxmlformats.org/drawingml/2006/main">
            <a:off x="9601200" y="15621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0D9B8D"/>
                </a:solidFill>
              </a:defRPr>
            </a:defPPr>
            <a:lvl1pPr>
              <a:defRPr sz="1350" b="1">
                <a:solidFill>
                  <a:srgbClr val="0D9B8D"/>
                </a:solidFill>
              </a:defRPr>
            </a:lvl1pPr>
            <a:lvl2pPr>
              <a:defRPr sz="1350" b="1">
                <a:solidFill>
                  <a:srgbClr val="0D9B8D"/>
                </a:solidFill>
              </a:defRPr>
            </a:lvl2pPr>
            <a:lvl3pPr>
              <a:defRPr sz="1350" b="1">
                <a:solidFill>
                  <a:srgbClr val="0D9B8D"/>
                </a:solidFill>
              </a:defRPr>
            </a:lvl3pPr>
            <a:lvl4pPr>
              <a:defRPr sz="1350" b="1">
                <a:solidFill>
                  <a:srgbClr val="0D9B8D"/>
                </a:solidFill>
              </a:defRPr>
            </a:lvl4pPr>
            <a:lvl5pPr>
              <a:defRPr sz="1350" b="1">
                <a:solidFill>
                  <a:srgbClr val="0D9B8D"/>
                </a:solidFill>
              </a:defRPr>
            </a:lvl5pPr>
            <a:lvl6pPr>
              <a:defRPr sz="1350" b="1">
                <a:solidFill>
                  <a:srgbClr val="0D9B8D"/>
                </a:solidFill>
              </a:defRPr>
            </a:lvl6pPr>
            <a:lvl7pPr>
              <a:defRPr sz="1350" b="1">
                <a:solidFill>
                  <a:srgbClr val="0D9B8D"/>
                </a:solidFill>
              </a:defRPr>
            </a:lvl7pPr>
            <a:lvl8pPr>
              <a:defRPr sz="1350" b="1">
                <a:solidFill>
                  <a:srgbClr val="0D9B8D"/>
                </a:solidFill>
              </a:defRPr>
            </a:lvl8pPr>
            <a:lvl9pPr>
              <a:defRPr sz="1350" b="1">
                <a:solidFill>
                  <a:srgbClr val="0D9B8D"/>
                </a:solidFill>
              </a:defRPr>
            </a:lvl9pPr>
          </a:lstStyle>
          <a:p xmlns:a="http://schemas.openxmlformats.org/drawingml/2006/main">
            <a:pPr>
              <a:defRPr sz="1350" b="1">
                <a:solidFill>
                  <a:srgbClr val="0D9B8D"/>
                </a:solidFill>
              </a:defRPr>
            </a:pPr>
            <a:r>
              <a:rPr sz="1350" b="1">
                <a:solidFill>
                  <a:srgbClr val="0D9B8D"/>
                </a:solidFill>
              </a:rPr>
              <a:t>→</a:t>
            </a:r>
          </a:p>
        </p:txBody>
      </p:sp>
      <p:sp>
        <p:nvSpPr>
          <p:cNvPr id="21" name="">
            <a:extLst xmlns:a="http://schemas.openxmlformats.org/drawingml/2006/main">
              <a:ext uri="{FF2B5EF4-FFF2-40B4-BE49-F238E27FC236}">
                <a16:creationId xmlns:a16="http://schemas.microsoft.com/office/drawing/2014/main" id="{F6E987A7-2100-40D3-9C52-7E2EDF524CCF}"/>
              </a:ext>
            </a:extLst>
          </p:cNvPr>
          <p:cNvSpPr>
            <a:spLocks xmlns:a="http://schemas.openxmlformats.org/drawingml/2006/main" noGrp="1"/>
          </p:cNvSpPr>
          <p:nvPr/>
        </p:nvSpPr>
        <p:spPr>
          <a:xfrm xmlns:a="http://schemas.openxmlformats.org/drawingml/2006/main">
            <a:off x="9801225" y="1400175"/>
            <a:ext cx="1666875" cy="581025"/>
          </a:xfrm>
          <a:prstGeom xmlns:a="http://schemas.openxmlformats.org/drawingml/2006/main" prst="roundRect">
            <a:avLst>
              <a:gd name="adj" fmla="val 19672"/>
            </a:avLst>
          </a:prstGeom>
          <a:solidFill xmlns:a="http://schemas.openxmlformats.org/drawingml/2006/main">
            <a:srgbClr val="FFFFFF"/>
          </a:solidFill>
          <a:ln xmlns:a="http://schemas.openxmlformats.org/drawingml/2006/main" w="9525">
            <a:solidFill>
              <a:srgbClr val="E1E7EB"/>
            </a:solidFill>
            <a:prstDash val="solid"/>
          </a:ln>
        </p:spPr>
      </p:sp>
      <p:sp>
        <p:nvSpPr>
          <p:cNvPr id="22" name="">
            <a:extLst xmlns:a="http://schemas.openxmlformats.org/drawingml/2006/main">
              <a:ext uri="{FF2B5EF4-FFF2-40B4-BE49-F238E27FC236}">
                <a16:creationId xmlns:a16="http://schemas.microsoft.com/office/drawing/2014/main" id="{D0DDDB69-391B-41B0-8204-5212226141CB}"/>
              </a:ext>
            </a:extLst>
          </p:cNvPr>
          <p:cNvSpPr>
            <a:spLocks xmlns:a="http://schemas.openxmlformats.org/drawingml/2006/main" noGrp="1"/>
          </p:cNvSpPr>
          <p:nvPr/>
        </p:nvSpPr>
        <p:spPr>
          <a:xfrm xmlns:a="http://schemas.openxmlformats.org/drawingml/2006/main">
            <a:off x="9915525" y="1504950"/>
            <a:ext cx="14382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192535"/>
                </a:solidFill>
              </a:defRPr>
            </a:defPPr>
            <a:lvl1pPr>
              <a:defRPr sz="900" b="1">
                <a:solidFill>
                  <a:srgbClr val="192535"/>
                </a:solidFill>
              </a:defRPr>
            </a:lvl1pPr>
            <a:lvl2pPr>
              <a:defRPr sz="900" b="1">
                <a:solidFill>
                  <a:srgbClr val="192535"/>
                </a:solidFill>
              </a:defRPr>
            </a:lvl2pPr>
            <a:lvl3pPr>
              <a:defRPr sz="900" b="1">
                <a:solidFill>
                  <a:srgbClr val="192535"/>
                </a:solidFill>
              </a:defRPr>
            </a:lvl3pPr>
            <a:lvl4pPr>
              <a:defRPr sz="900" b="1">
                <a:solidFill>
                  <a:srgbClr val="192535"/>
                </a:solidFill>
              </a:defRPr>
            </a:lvl4pPr>
            <a:lvl5pPr>
              <a:defRPr sz="900" b="1">
                <a:solidFill>
                  <a:srgbClr val="192535"/>
                </a:solidFill>
              </a:defRPr>
            </a:lvl5pPr>
            <a:lvl6pPr>
              <a:defRPr sz="900" b="1">
                <a:solidFill>
                  <a:srgbClr val="192535"/>
                </a:solidFill>
              </a:defRPr>
            </a:lvl6pPr>
            <a:lvl7pPr>
              <a:defRPr sz="900" b="1">
                <a:solidFill>
                  <a:srgbClr val="192535"/>
                </a:solidFill>
              </a:defRPr>
            </a:lvl7pPr>
            <a:lvl8pPr>
              <a:defRPr sz="900" b="1">
                <a:solidFill>
                  <a:srgbClr val="192535"/>
                </a:solidFill>
              </a:defRPr>
            </a:lvl8pPr>
            <a:lvl9pPr>
              <a:defRPr sz="900" b="1">
                <a:solidFill>
                  <a:srgbClr val="192535"/>
                </a:solidFill>
              </a:defRPr>
            </a:lvl9pPr>
          </a:lstStyle>
          <a:p xmlns:a="http://schemas.openxmlformats.org/drawingml/2006/main">
            <a:pPr>
              <a:defRPr sz="900" b="1">
                <a:solidFill>
                  <a:srgbClr val="192535"/>
                </a:solidFill>
              </a:defRPr>
            </a:pPr>
            <a:r>
              <a:rPr sz="900" b="1">
                <a:solidFill>
                  <a:srgbClr val="192535"/>
                </a:solidFill>
              </a:rPr>
              <a:t>06  Refresh</a:t>
            </a:r>
          </a:p>
        </p:txBody>
      </p:sp>
      <p:sp>
        <p:nvSpPr>
          <p:cNvPr id="23" name="">
            <a:extLst xmlns:a="http://schemas.openxmlformats.org/drawingml/2006/main">
              <a:ext uri="{FF2B5EF4-FFF2-40B4-BE49-F238E27FC236}">
                <a16:creationId xmlns:a16="http://schemas.microsoft.com/office/drawing/2014/main" id="{A6A82E17-C455-4698-91C5-056EE85221EE}"/>
              </a:ext>
            </a:extLst>
          </p:cNvPr>
          <p:cNvSpPr>
            <a:spLocks xmlns:a="http://schemas.openxmlformats.org/drawingml/2006/main" noGrp="1"/>
          </p:cNvSpPr>
          <p:nvPr/>
        </p:nvSpPr>
        <p:spPr>
          <a:xfrm xmlns:a="http://schemas.openxmlformats.org/drawingml/2006/main">
            <a:off x="609600" y="2324100"/>
            <a:ext cx="3352800" cy="1743075"/>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E1E7EB"/>
            </a:solidFill>
            <a:prstDash val="solid"/>
          </a:ln>
        </p:spPr>
      </p:sp>
      <p:sp>
        <p:nvSpPr>
          <p:cNvPr id="24" name="">
            <a:extLst xmlns:a="http://schemas.openxmlformats.org/drawingml/2006/main">
              <a:ext uri="{FF2B5EF4-FFF2-40B4-BE49-F238E27FC236}">
                <a16:creationId xmlns:a16="http://schemas.microsoft.com/office/drawing/2014/main" id="{394B720B-6E1A-484C-96CF-3B74EBF7BEAB}"/>
              </a:ext>
            </a:extLst>
          </p:cNvPr>
          <p:cNvSpPr>
            <a:spLocks xmlns:a="http://schemas.openxmlformats.org/drawingml/2006/main" noGrp="1"/>
          </p:cNvSpPr>
          <p:nvPr/>
        </p:nvSpPr>
        <p:spPr>
          <a:xfrm xmlns:a="http://schemas.openxmlformats.org/drawingml/2006/main">
            <a:off x="609600" y="2324100"/>
            <a:ext cx="47625" cy="1743075"/>
          </a:xfrm>
          <a:prstGeom xmlns:a="http://schemas.openxmlformats.org/drawingml/2006/main" prst="roundRect">
            <a:avLst>
              <a:gd name="adj" fmla="val 50000"/>
            </a:avLst>
          </a:prstGeom>
          <a:solidFill xmlns:a="http://schemas.openxmlformats.org/drawingml/2006/main">
            <a:srgbClr val="0D9B8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4B75FC1-07E4-41BB-A574-33BC526F510F}"/>
              </a:ext>
            </a:extLst>
          </p:cNvPr>
          <p:cNvSpPr>
            <a:spLocks xmlns:a="http://schemas.openxmlformats.org/drawingml/2006/main" noGrp="1"/>
          </p:cNvSpPr>
          <p:nvPr/>
        </p:nvSpPr>
        <p:spPr>
          <a:xfrm xmlns:a="http://schemas.openxmlformats.org/drawingml/2006/main">
            <a:off x="800100" y="2466975"/>
            <a:ext cx="2971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CHECKED COUNTS</a:t>
            </a:r>
          </a:p>
        </p:txBody>
      </p:sp>
      <p:sp>
        <p:nvSpPr>
          <p:cNvPr id="26" name="">
            <a:extLst xmlns:a="http://schemas.openxmlformats.org/drawingml/2006/main">
              <a:ext uri="{FF2B5EF4-FFF2-40B4-BE49-F238E27FC236}">
                <a16:creationId xmlns:a16="http://schemas.microsoft.com/office/drawing/2014/main" id="{DFC1F64E-7904-4ABB-8DE6-468873430AF0}"/>
              </a:ext>
            </a:extLst>
          </p:cNvPr>
          <p:cNvSpPr>
            <a:spLocks xmlns:a="http://schemas.openxmlformats.org/drawingml/2006/main" noGrp="1"/>
          </p:cNvSpPr>
          <p:nvPr/>
        </p:nvSpPr>
        <p:spPr>
          <a:xfrm xmlns:a="http://schemas.openxmlformats.org/drawingml/2006/main">
            <a:off x="800100" y="2790825"/>
            <a:ext cx="2971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Initial: 44 unique, 17 usable</a:t>
            </a:r>
          </a:p>
          <a:p xmlns:a="http://schemas.openxmlformats.org/drawingml/2006/main">
            <a:pPr>
              <a:defRPr sz="975" b="0">
                <a:solidFill>
                  <a:srgbClr val="647285"/>
                </a:solidFill>
              </a:defRPr>
            </a:pPr>
            <a:r>
              <a:rPr sz="975" b="0">
                <a:solidFill>
                  <a:srgbClr val="647285"/>
                </a:solidFill>
              </a:rPr>
              <a:t>Repeat: +0 records</a:t>
            </a:r>
          </a:p>
          <a:p xmlns:a="http://schemas.openxmlformats.org/drawingml/2006/main">
            <a:pPr>
              <a:defRPr sz="975" b="0">
                <a:solidFill>
                  <a:srgbClr val="647285"/>
                </a:solidFill>
              </a:defRPr>
            </a:pPr>
            <a:r>
              <a:rPr sz="975" b="0">
                <a:solidFill>
                  <a:srgbClr val="647285"/>
                </a:solidFill>
              </a:rPr>
              <a:t>Update: still 44, now 18 usable</a:t>
            </a:r>
          </a:p>
          <a:p xmlns:a="http://schemas.openxmlformats.org/drawingml/2006/main">
            <a:pPr>
              <a:defRPr sz="975" b="0">
                <a:solidFill>
                  <a:srgbClr val="647285"/>
                </a:solidFill>
              </a:defRPr>
            </a:pPr>
            <a:r>
              <a:rPr sz="975" b="0">
                <a:solidFill>
                  <a:srgbClr val="647285"/>
                </a:solidFill>
              </a:rPr>
              <a:t>Older r1: ignored for all 44</a:t>
            </a:r>
          </a:p>
          <a:p xmlns:a="http://schemas.openxmlformats.org/drawingml/2006/main">
            <a:pPr>
              <a:defRPr sz="975" b="0">
                <a:solidFill>
                  <a:srgbClr val="647285"/>
                </a:solidFill>
              </a:defRPr>
            </a:pPr>
            <a:r>
              <a:rPr sz="975" b="0">
                <a:solidFill>
                  <a:srgbClr val="647285"/>
                </a:solidFill>
              </a:rPr>
              <a:t>M07: r2 transcript visible; route preserved.</a:t>
            </a:r>
          </a:p>
        </p:txBody>
      </p:sp>
      <p:sp>
        <p:nvSpPr>
          <p:cNvPr id="27" name="">
            <a:extLst xmlns:a="http://schemas.openxmlformats.org/drawingml/2006/main">
              <a:ext uri="{FF2B5EF4-FFF2-40B4-BE49-F238E27FC236}">
                <a16:creationId xmlns:a16="http://schemas.microsoft.com/office/drawing/2014/main" id="{A0F26D32-5ACF-48B3-AFF2-19F81A3B26FC}"/>
              </a:ext>
            </a:extLst>
          </p:cNvPr>
          <p:cNvSpPr>
            <a:spLocks xmlns:a="http://schemas.openxmlformats.org/drawingml/2006/main" noGrp="1"/>
          </p:cNvSpPr>
          <p:nvPr/>
        </p:nvSpPr>
        <p:spPr>
          <a:xfrm xmlns:a="http://schemas.openxmlformats.org/drawingml/2006/main">
            <a:off x="4181475" y="2324100"/>
            <a:ext cx="3352800" cy="1743075"/>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E1E7EB"/>
            </a:solidFill>
            <a:prstDash val="solid"/>
          </a:ln>
        </p:spPr>
      </p:sp>
      <p:sp>
        <p:nvSpPr>
          <p:cNvPr id="28" name="">
            <a:extLst xmlns:a="http://schemas.openxmlformats.org/drawingml/2006/main">
              <a:ext uri="{FF2B5EF4-FFF2-40B4-BE49-F238E27FC236}">
                <a16:creationId xmlns:a16="http://schemas.microsoft.com/office/drawing/2014/main" id="{CF8E4FA1-EB3F-4C25-B7CB-167CF040E49B}"/>
              </a:ext>
            </a:extLst>
          </p:cNvPr>
          <p:cNvSpPr>
            <a:spLocks xmlns:a="http://schemas.openxmlformats.org/drawingml/2006/main" noGrp="1"/>
          </p:cNvSpPr>
          <p:nvPr/>
        </p:nvSpPr>
        <p:spPr>
          <a:xfrm xmlns:a="http://schemas.openxmlformats.org/drawingml/2006/main">
            <a:off x="4181475" y="2324100"/>
            <a:ext cx="47625" cy="1743075"/>
          </a:xfrm>
          <a:prstGeom xmlns:a="http://schemas.openxmlformats.org/drawingml/2006/main" prst="roundRect">
            <a:avLst>
              <a:gd name="adj" fmla="val 50000"/>
            </a:avLst>
          </a:prstGeom>
          <a:solidFill xmlns:a="http://schemas.openxmlformats.org/drawingml/2006/main">
            <a:srgbClr val="647BC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2CF90E4-9115-401E-A6E5-5361C3686A08}"/>
              </a:ext>
            </a:extLst>
          </p:cNvPr>
          <p:cNvSpPr>
            <a:spLocks xmlns:a="http://schemas.openxmlformats.org/drawingml/2006/main" noGrp="1"/>
          </p:cNvSpPr>
          <p:nvPr/>
        </p:nvSpPr>
        <p:spPr>
          <a:xfrm xmlns:a="http://schemas.openxmlformats.org/drawingml/2006/main">
            <a:off x="4371975" y="2466975"/>
            <a:ext cx="2971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IMPLEMENTATION</a:t>
            </a:r>
          </a:p>
        </p:txBody>
      </p:sp>
      <p:sp>
        <p:nvSpPr>
          <p:cNvPr id="30" name="">
            <a:extLst xmlns:a="http://schemas.openxmlformats.org/drawingml/2006/main">
              <a:ext uri="{FF2B5EF4-FFF2-40B4-BE49-F238E27FC236}">
                <a16:creationId xmlns:a16="http://schemas.microsoft.com/office/drawing/2014/main" id="{DDAC869C-58C0-4470-8386-EF34CC617F8E}"/>
              </a:ext>
            </a:extLst>
          </p:cNvPr>
          <p:cNvSpPr>
            <a:spLocks xmlns:a="http://schemas.openxmlformats.org/drawingml/2006/main" noGrp="1"/>
          </p:cNvSpPr>
          <p:nvPr/>
        </p:nvSpPr>
        <p:spPr>
          <a:xfrm xmlns:a="http://schemas.openxmlformats.org/drawingml/2006/main">
            <a:off x="4371975" y="2790825"/>
            <a:ext cx="29718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Static app with localStorage persistence. Imports use full-payload upsert by source type + ID. Analyses are pre-generated and evidence-linked; no runtime AI or paid service.</a:t>
            </a:r>
          </a:p>
        </p:txBody>
      </p:sp>
      <p:sp>
        <p:nvSpPr>
          <p:cNvPr id="31" name="">
            <a:extLst xmlns:a="http://schemas.openxmlformats.org/drawingml/2006/main">
              <a:ext uri="{FF2B5EF4-FFF2-40B4-BE49-F238E27FC236}">
                <a16:creationId xmlns:a16="http://schemas.microsoft.com/office/drawing/2014/main" id="{607C6481-23B5-4BE2-82EB-D863110D32A7}"/>
              </a:ext>
            </a:extLst>
          </p:cNvPr>
          <p:cNvSpPr>
            <a:spLocks xmlns:a="http://schemas.openxmlformats.org/drawingml/2006/main" noGrp="1"/>
          </p:cNvSpPr>
          <p:nvPr/>
        </p:nvSpPr>
        <p:spPr>
          <a:xfrm xmlns:a="http://schemas.openxmlformats.org/drawingml/2006/main">
            <a:off x="7753350" y="2324100"/>
            <a:ext cx="3829050" cy="1743075"/>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E1E7EB"/>
            </a:solidFill>
            <a:prstDash val="solid"/>
          </a:ln>
        </p:spPr>
      </p:sp>
      <p:sp>
        <p:nvSpPr>
          <p:cNvPr id="32" name="">
            <a:extLst xmlns:a="http://schemas.openxmlformats.org/drawingml/2006/main">
              <a:ext uri="{FF2B5EF4-FFF2-40B4-BE49-F238E27FC236}">
                <a16:creationId xmlns:a16="http://schemas.microsoft.com/office/drawing/2014/main" id="{1E848E77-7717-47A6-904C-B1803C6FA1C5}"/>
              </a:ext>
            </a:extLst>
          </p:cNvPr>
          <p:cNvSpPr>
            <a:spLocks xmlns:a="http://schemas.openxmlformats.org/drawingml/2006/main" noGrp="1"/>
          </p:cNvSpPr>
          <p:nvPr/>
        </p:nvSpPr>
        <p:spPr>
          <a:xfrm xmlns:a="http://schemas.openxmlformats.org/drawingml/2006/main">
            <a:off x="7753350" y="2324100"/>
            <a:ext cx="47625" cy="1743075"/>
          </a:xfrm>
          <a:prstGeom xmlns:a="http://schemas.openxmlformats.org/drawingml/2006/main" prst="roundRect">
            <a:avLst>
              <a:gd name="adj" fmla="val 50000"/>
            </a:avLst>
          </a:prstGeom>
          <a:solidFill xmlns:a="http://schemas.openxmlformats.org/drawingml/2006/main">
            <a:srgbClr val="CA686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A00028F-D88D-4CF5-A3A5-7ECCE06F6800}"/>
              </a:ext>
            </a:extLst>
          </p:cNvPr>
          <p:cNvSpPr>
            <a:spLocks xmlns:a="http://schemas.openxmlformats.org/drawingml/2006/main" noGrp="1"/>
          </p:cNvSpPr>
          <p:nvPr/>
        </p:nvSpPr>
        <p:spPr>
          <a:xfrm xmlns:a="http://schemas.openxmlformats.org/drawingml/2006/main">
            <a:off x="7943850" y="2466975"/>
            <a:ext cx="3448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192535"/>
                </a:solidFill>
              </a:defRPr>
            </a:defPPr>
            <a:lvl1pPr>
              <a:defRPr sz="1200" b="1">
                <a:solidFill>
                  <a:srgbClr val="192535"/>
                </a:solidFill>
              </a:defRPr>
            </a:lvl1pPr>
            <a:lvl2pPr>
              <a:defRPr sz="1200" b="1">
                <a:solidFill>
                  <a:srgbClr val="192535"/>
                </a:solidFill>
              </a:defRPr>
            </a:lvl2pPr>
            <a:lvl3pPr>
              <a:defRPr sz="1200" b="1">
                <a:solidFill>
                  <a:srgbClr val="192535"/>
                </a:solidFill>
              </a:defRPr>
            </a:lvl3pPr>
            <a:lvl4pPr>
              <a:defRPr sz="1200" b="1">
                <a:solidFill>
                  <a:srgbClr val="192535"/>
                </a:solidFill>
              </a:defRPr>
            </a:lvl4pPr>
            <a:lvl5pPr>
              <a:defRPr sz="1200" b="1">
                <a:solidFill>
                  <a:srgbClr val="192535"/>
                </a:solidFill>
              </a:defRPr>
            </a:lvl5pPr>
            <a:lvl6pPr>
              <a:defRPr sz="1200" b="1">
                <a:solidFill>
                  <a:srgbClr val="192535"/>
                </a:solidFill>
              </a:defRPr>
            </a:lvl6pPr>
            <a:lvl7pPr>
              <a:defRPr sz="1200" b="1">
                <a:solidFill>
                  <a:srgbClr val="192535"/>
                </a:solidFill>
              </a:defRPr>
            </a:lvl7pPr>
            <a:lvl8pPr>
              <a:defRPr sz="1200" b="1">
                <a:solidFill>
                  <a:srgbClr val="192535"/>
                </a:solidFill>
              </a:defRPr>
            </a:lvl8pPr>
            <a:lvl9pPr>
              <a:defRPr sz="1200" b="1">
                <a:solidFill>
                  <a:srgbClr val="192535"/>
                </a:solidFill>
              </a:defRPr>
            </a:lvl9pPr>
          </a:lstStyle>
          <a:p xmlns:a="http://schemas.openxmlformats.org/drawingml/2006/main">
            <a:pPr>
              <a:defRPr sz="1200" b="1">
                <a:solidFill>
                  <a:srgbClr val="192535"/>
                </a:solidFill>
              </a:defRPr>
            </a:pPr>
            <a:r>
              <a:rPr sz="1200" b="1">
                <a:solidFill>
                  <a:srgbClr val="192535"/>
                </a:solidFill>
              </a:rPr>
              <a:t>DELIBERATELY REJECTED</a:t>
            </a:r>
          </a:p>
        </p:txBody>
      </p:sp>
      <p:sp>
        <p:nvSpPr>
          <p:cNvPr id="34" name="">
            <a:extLst xmlns:a="http://schemas.openxmlformats.org/drawingml/2006/main">
              <a:ext uri="{FF2B5EF4-FFF2-40B4-BE49-F238E27FC236}">
                <a16:creationId xmlns:a16="http://schemas.microsoft.com/office/drawing/2014/main" id="{43433ABA-CB33-44C2-AD71-98DC3541836D}"/>
              </a:ext>
            </a:extLst>
          </p:cNvPr>
          <p:cNvSpPr>
            <a:spLocks xmlns:a="http://schemas.openxmlformats.org/drawingml/2006/main" noGrp="1"/>
          </p:cNvSpPr>
          <p:nvPr/>
        </p:nvSpPr>
        <p:spPr>
          <a:xfrm xmlns:a="http://schemas.openxmlformats.org/drawingml/2006/main">
            <a:off x="7943850" y="2790825"/>
            <a:ext cx="34480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647285"/>
                </a:solidFill>
              </a:defRPr>
            </a:defPPr>
            <a:lvl1pPr>
              <a:defRPr sz="975" b="0">
                <a:solidFill>
                  <a:srgbClr val="647285"/>
                </a:solidFill>
              </a:defRPr>
            </a:lvl1pPr>
            <a:lvl2pPr>
              <a:defRPr sz="975" b="0">
                <a:solidFill>
                  <a:srgbClr val="647285"/>
                </a:solidFill>
              </a:defRPr>
            </a:lvl2pPr>
            <a:lvl3pPr>
              <a:defRPr sz="975" b="0">
                <a:solidFill>
                  <a:srgbClr val="647285"/>
                </a:solidFill>
              </a:defRPr>
            </a:lvl3pPr>
            <a:lvl4pPr>
              <a:defRPr sz="975" b="0">
                <a:solidFill>
                  <a:srgbClr val="647285"/>
                </a:solidFill>
              </a:defRPr>
            </a:lvl4pPr>
            <a:lvl5pPr>
              <a:defRPr sz="975" b="0">
                <a:solidFill>
                  <a:srgbClr val="647285"/>
                </a:solidFill>
              </a:defRPr>
            </a:lvl5pPr>
            <a:lvl6pPr>
              <a:defRPr sz="975" b="0">
                <a:solidFill>
                  <a:srgbClr val="647285"/>
                </a:solidFill>
              </a:defRPr>
            </a:lvl6pPr>
            <a:lvl7pPr>
              <a:defRPr sz="975" b="0">
                <a:solidFill>
                  <a:srgbClr val="647285"/>
                </a:solidFill>
              </a:defRPr>
            </a:lvl7pPr>
            <a:lvl8pPr>
              <a:defRPr sz="975" b="0">
                <a:solidFill>
                  <a:srgbClr val="647285"/>
                </a:solidFill>
              </a:defRPr>
            </a:lvl8pPr>
            <a:lvl9pPr>
              <a:defRPr sz="975" b="0">
                <a:solidFill>
                  <a:srgbClr val="647285"/>
                </a:solidFill>
              </a:defRPr>
            </a:lvl9pPr>
          </a:lstStyle>
          <a:p xmlns:a="http://schemas.openxmlformats.org/drawingml/2006/main">
            <a:pPr>
              <a:defRPr sz="975" b="0">
                <a:solidFill>
                  <a:srgbClr val="647285"/>
                </a:solidFill>
              </a:defRPr>
            </a:pPr>
            <a:r>
              <a:rPr sz="975" b="0">
                <a:solidFill>
                  <a:srgbClr val="647285"/>
                </a:solidFill>
              </a:rPr>
              <a:t>No “best leads” or rep ranking from a selected, non-representative day. Trade-off: less apparent sales scoring, but fewer unsupported claims and no fabricated pipeline.</a:t>
            </a:r>
          </a:p>
        </p:txBody>
      </p:sp>
      <p:sp>
        <p:nvSpPr>
          <p:cNvPr id="35" name="">
            <a:extLst xmlns:a="http://schemas.openxmlformats.org/drawingml/2006/main">
              <a:ext uri="{FF2B5EF4-FFF2-40B4-BE49-F238E27FC236}">
                <a16:creationId xmlns:a16="http://schemas.microsoft.com/office/drawing/2014/main" id="{E4C8E58E-68B2-4BE3-BB5E-0CA7D571B611}"/>
              </a:ext>
            </a:extLst>
          </p:cNvPr>
          <p:cNvSpPr>
            <a:spLocks xmlns:a="http://schemas.openxmlformats.org/drawingml/2006/main" noGrp="1"/>
          </p:cNvSpPr>
          <p:nvPr/>
        </p:nvSpPr>
        <p:spPr>
          <a:xfrm xmlns:a="http://schemas.openxmlformats.org/drawingml/2006/main">
            <a:off x="609600" y="43815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0D9B8D"/>
                </a:solidFill>
              </a:defRPr>
            </a:defPPr>
            <a:lvl1pPr>
              <a:defRPr sz="900" b="1">
                <a:solidFill>
                  <a:srgbClr val="0D9B8D"/>
                </a:solidFill>
              </a:defRPr>
            </a:lvl1pPr>
            <a:lvl2pPr>
              <a:defRPr sz="900" b="1">
                <a:solidFill>
                  <a:srgbClr val="0D9B8D"/>
                </a:solidFill>
              </a:defRPr>
            </a:lvl2pPr>
            <a:lvl3pPr>
              <a:defRPr sz="900" b="1">
                <a:solidFill>
                  <a:srgbClr val="0D9B8D"/>
                </a:solidFill>
              </a:defRPr>
            </a:lvl3pPr>
            <a:lvl4pPr>
              <a:defRPr sz="900" b="1">
                <a:solidFill>
                  <a:srgbClr val="0D9B8D"/>
                </a:solidFill>
              </a:defRPr>
            </a:lvl4pPr>
            <a:lvl5pPr>
              <a:defRPr sz="900" b="1">
                <a:solidFill>
                  <a:srgbClr val="0D9B8D"/>
                </a:solidFill>
              </a:defRPr>
            </a:lvl5pPr>
            <a:lvl6pPr>
              <a:defRPr sz="900" b="1">
                <a:solidFill>
                  <a:srgbClr val="0D9B8D"/>
                </a:solidFill>
              </a:defRPr>
            </a:lvl6pPr>
            <a:lvl7pPr>
              <a:defRPr sz="900" b="1">
                <a:solidFill>
                  <a:srgbClr val="0D9B8D"/>
                </a:solidFill>
              </a:defRPr>
            </a:lvl7pPr>
            <a:lvl8pPr>
              <a:defRPr sz="900" b="1">
                <a:solidFill>
                  <a:srgbClr val="0D9B8D"/>
                </a:solidFill>
              </a:defRPr>
            </a:lvl8pPr>
            <a:lvl9pPr>
              <a:defRPr sz="900" b="1">
                <a:solidFill>
                  <a:srgbClr val="0D9B8D"/>
                </a:solidFill>
              </a:defRPr>
            </a:lvl9pPr>
          </a:lstStyle>
          <a:p xmlns:a="http://schemas.openxmlformats.org/drawingml/2006/main">
            <a:pPr>
              <a:defRPr sz="900" b="1">
                <a:solidFill>
                  <a:srgbClr val="0D9B8D"/>
                </a:solidFill>
              </a:defRPr>
            </a:pPr>
            <a:r>
              <a:rPr sz="900" b="1">
                <a:solidFill>
                  <a:srgbClr val="0D9B8D"/>
                </a:solidFill>
              </a:rPr>
              <a:t>OTHER TRADE-OFFS</a:t>
            </a:r>
          </a:p>
        </p:txBody>
      </p:sp>
      <p:sp>
        <p:nvSpPr>
          <p:cNvPr id="36" name="">
            <a:extLst xmlns:a="http://schemas.openxmlformats.org/drawingml/2006/main">
              <a:ext uri="{FF2B5EF4-FFF2-40B4-BE49-F238E27FC236}">
                <a16:creationId xmlns:a16="http://schemas.microsoft.com/office/drawing/2014/main" id="{030F0820-A611-4EF2-A4E1-CC7215537522}"/>
              </a:ext>
            </a:extLst>
          </p:cNvPr>
          <p:cNvSpPr>
            <a:spLocks xmlns:a="http://schemas.openxmlformats.org/drawingml/2006/main" noGrp="1"/>
          </p:cNvSpPr>
          <p:nvPr/>
        </p:nvSpPr>
        <p:spPr>
          <a:xfrm xmlns:a="http://schemas.openxmlformats.org/drawingml/2006/main">
            <a:off x="609600" y="4676775"/>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192535"/>
                </a:solidFill>
              </a:defRPr>
            </a:defPPr>
            <a:lvl1pPr>
              <a:defRPr sz="1125" b="0">
                <a:solidFill>
                  <a:srgbClr val="192535"/>
                </a:solidFill>
              </a:defRPr>
            </a:lvl1pPr>
            <a:lvl2pPr>
              <a:defRPr sz="1125" b="0">
                <a:solidFill>
                  <a:srgbClr val="192535"/>
                </a:solidFill>
              </a:defRPr>
            </a:lvl2pPr>
            <a:lvl3pPr>
              <a:defRPr sz="1125" b="0">
                <a:solidFill>
                  <a:srgbClr val="192535"/>
                </a:solidFill>
              </a:defRPr>
            </a:lvl3pPr>
            <a:lvl4pPr>
              <a:defRPr sz="1125" b="0">
                <a:solidFill>
                  <a:srgbClr val="192535"/>
                </a:solidFill>
              </a:defRPr>
            </a:lvl4pPr>
            <a:lvl5pPr>
              <a:defRPr sz="1125" b="0">
                <a:solidFill>
                  <a:srgbClr val="192535"/>
                </a:solidFill>
              </a:defRPr>
            </a:lvl5pPr>
            <a:lvl6pPr>
              <a:defRPr sz="1125" b="0">
                <a:solidFill>
                  <a:srgbClr val="192535"/>
                </a:solidFill>
              </a:defRPr>
            </a:lvl6pPr>
            <a:lvl7pPr>
              <a:defRPr sz="1125" b="0">
                <a:solidFill>
                  <a:srgbClr val="192535"/>
                </a:solidFill>
              </a:defRPr>
            </a:lvl7pPr>
            <a:lvl8pPr>
              <a:defRPr sz="1125" b="0">
                <a:solidFill>
                  <a:srgbClr val="192535"/>
                </a:solidFill>
              </a:defRPr>
            </a:lvl8pPr>
            <a:lvl9pPr>
              <a:defRPr sz="1125" b="0">
                <a:solidFill>
                  <a:srgbClr val="192535"/>
                </a:solidFill>
              </a:defRPr>
            </a:lvl9pPr>
          </a:lstStyle>
          <a:p xmlns:a="http://schemas.openxmlformats.org/drawingml/2006/main">
            <a:pPr>
              <a:defRPr sz="1125" b="0">
                <a:solidFill>
                  <a:srgbClr val="192535"/>
                </a:solidFill>
              </a:defRPr>
            </a:pPr>
            <a:r>
              <a:rPr sz="1125" b="0">
                <a:solidFill>
                  <a:srgbClr val="192535"/>
                </a:solidFill>
              </a:rPr>
              <a:t>Local browser storage is simple to reproduce but not shared across devices. Analysis of new transcripts becomes “Pending review”; a human must confirm it. Missing text stays an intake state.</a:t>
            </a:r>
          </a:p>
        </p:txBody>
      </p:sp>
      <p:sp>
        <p:nvSpPr>
          <p:cNvPr id="37" name="">
            <a:extLst xmlns:a="http://schemas.openxmlformats.org/drawingml/2006/main">
              <a:ext uri="{FF2B5EF4-FFF2-40B4-BE49-F238E27FC236}">
                <a16:creationId xmlns:a16="http://schemas.microsoft.com/office/drawing/2014/main" id="{E475621A-E31A-40FC-9AE2-E535DE7DAE11}"/>
              </a:ext>
            </a:extLst>
          </p:cNvPr>
          <p:cNvSpPr>
            <a:spLocks xmlns:a="http://schemas.openxmlformats.org/drawingml/2006/main" noGrp="1"/>
          </p:cNvSpPr>
          <p:nvPr/>
        </p:nvSpPr>
        <p:spPr>
          <a:xfrm xmlns:a="http://schemas.openxmlformats.org/drawingml/2006/main">
            <a:off x="609600" y="5448300"/>
            <a:ext cx="10972800" cy="9525"/>
          </a:xfrm>
          <a:prstGeom xmlns:a="http://schemas.openxmlformats.org/drawingml/2006/main" prst="rect">
            <a:avLst/>
          </a:prstGeom>
          <a:solidFill xmlns:a="http://schemas.openxmlformats.org/drawingml/2006/main">
            <a:srgbClr val="E1E7E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1E05CAF-DC92-4509-B816-A9A73C729D9B}"/>
              </a:ext>
            </a:extLst>
          </p:cNvPr>
          <p:cNvSpPr>
            <a:spLocks xmlns:a="http://schemas.openxmlformats.org/drawingml/2006/main" noGrp="1"/>
          </p:cNvSpPr>
          <p:nvPr/>
        </p:nvSpPr>
        <p:spPr>
          <a:xfrm xmlns:a="http://schemas.openxmlformats.org/drawingml/2006/main">
            <a:off x="609600" y="56578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647285"/>
                </a:solidFill>
              </a:defRPr>
            </a:defPPr>
            <a:lvl1pPr>
              <a:defRPr sz="900" b="0">
                <a:solidFill>
                  <a:srgbClr val="647285"/>
                </a:solidFill>
              </a:defRPr>
            </a:lvl1pPr>
            <a:lvl2pPr>
              <a:defRPr sz="900" b="0">
                <a:solidFill>
                  <a:srgbClr val="647285"/>
                </a:solidFill>
              </a:defRPr>
            </a:lvl2pPr>
            <a:lvl3pPr>
              <a:defRPr sz="900" b="0">
                <a:solidFill>
                  <a:srgbClr val="647285"/>
                </a:solidFill>
              </a:defRPr>
            </a:lvl3pPr>
            <a:lvl4pPr>
              <a:defRPr sz="900" b="0">
                <a:solidFill>
                  <a:srgbClr val="647285"/>
                </a:solidFill>
              </a:defRPr>
            </a:lvl4pPr>
            <a:lvl5pPr>
              <a:defRPr sz="900" b="0">
                <a:solidFill>
                  <a:srgbClr val="647285"/>
                </a:solidFill>
              </a:defRPr>
            </a:lvl5pPr>
            <a:lvl6pPr>
              <a:defRPr sz="900" b="0">
                <a:solidFill>
                  <a:srgbClr val="647285"/>
                </a:solidFill>
              </a:defRPr>
            </a:lvl6pPr>
            <a:lvl7pPr>
              <a:defRPr sz="900" b="0">
                <a:solidFill>
                  <a:srgbClr val="647285"/>
                </a:solidFill>
              </a:defRPr>
            </a:lvl7pPr>
            <a:lvl8pPr>
              <a:defRPr sz="900" b="0">
                <a:solidFill>
                  <a:srgbClr val="647285"/>
                </a:solidFill>
              </a:defRPr>
            </a:lvl8pPr>
            <a:lvl9pPr>
              <a:defRPr sz="900" b="0">
                <a:solidFill>
                  <a:srgbClr val="647285"/>
                </a:solidFill>
              </a:defRPr>
            </a:lvl9pPr>
          </a:lstStyle>
          <a:p xmlns:a="http://schemas.openxmlformats.org/drawingml/2006/main">
            <a:pPr>
              <a:defRPr sz="900" b="0">
                <a:solidFill>
                  <a:srgbClr val="647285"/>
                </a:solidFill>
              </a:defRPr>
            </a:pPr>
            <a:r>
              <a:rPr sz="900" b="0">
                <a:solidFill>
                  <a:srgbClr val="647285"/>
                </a:solidFill>
              </a:rPr>
              <a:t>Source checks: M01 turn 21 · M06 turn 10 · M07 turn 15. Export manifest and replay tests are included with editable source.</a:t>
            </a:r>
          </a:p>
        </p:txBody>
      </p:sp>
    </p:spTree>
    <p:extLst>
      <p:ext uri="{BB962C8B-B14F-4D97-AF65-F5344CB8AC3E}">
        <p14:creationId xmlns:p14="http://schemas.microsoft.com/office/powerpoint/2010/main" val="641353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2026-10-23T03:36:28.5680000Z</dcterms:created>
  <dcterms:modified xsi:type="dcterms:W3CDTF">2026-10-23T03:36:28.5680000Z</dcterms:modified>
</coreProperties>
</file>